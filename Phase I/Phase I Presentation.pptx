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1F15B0-E46D-4420-871A-D848B554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C7DC27D-E004-4583-B452-6E2425D18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78EF196-88C0-40F5-B7E5-E747B93C2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98C84DB-4EFD-42D7-8C63-6B4A146C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C5EDABE-7F71-460A-BFBD-A1760A935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C296597-80B9-42F4-85CC-7D164FC4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B8095F5-C57C-47C4-AA54-038A9B02E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CF612CE-F9B0-4ADB-9C45-42F73FAE942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48658CD-A541-4B3B-A328-F8CCDC8EA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02DCA4B-54BE-4157-904F-CC5A813B3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C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D01A5-D8F4-4BD4-8477-A9C5B56EBF7C}"/>
              </a:ext>
            </a:extLst>
          </p:cNvPr>
          <p:cNvSpPr>
            <a:spLocks noGrp="1"/>
          </p:cNvSpPr>
          <p:nvPr/>
        </p:nvSpPr>
        <p:spPr>
          <a:xfrm>
            <a:off x="733425" y="1371600"/>
            <a:ext cx="9525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5400" b="1">
                <a:solidFill>
                  <a:srgbClr val="FFFFFF"/>
                </a:solidFill>
              </a:defRPr>
            </a:defPPr>
            <a:lvl1pPr>
              <a:defRPr sz="5400" b="1">
                <a:solidFill>
                  <a:srgbClr val="FFFFFF"/>
                </a:solidFill>
              </a:defRPr>
            </a:lvl1pPr>
            <a:lvl2pPr>
              <a:defRPr sz="5400" b="1">
                <a:solidFill>
                  <a:srgbClr val="FFFFFF"/>
                </a:solidFill>
              </a:defRPr>
            </a:lvl2pPr>
            <a:lvl3pPr>
              <a:defRPr sz="5400" b="1">
                <a:solidFill>
                  <a:srgbClr val="FFFFFF"/>
                </a:solidFill>
              </a:defRPr>
            </a:lvl3pPr>
            <a:lvl4pPr>
              <a:defRPr sz="5400" b="1">
                <a:solidFill>
                  <a:srgbClr val="FFFFFF"/>
                </a:solidFill>
              </a:defRPr>
            </a:lvl4pPr>
            <a:lvl5pPr>
              <a:defRPr sz="5400" b="1">
                <a:solidFill>
                  <a:srgbClr val="FFFFFF"/>
                </a:solidFill>
              </a:defRPr>
            </a:lvl5pPr>
            <a:lvl6pPr>
              <a:defRPr sz="5400" b="1">
                <a:solidFill>
                  <a:srgbClr val="FFFFFF"/>
                </a:solidFill>
              </a:defRPr>
            </a:lvl6pPr>
            <a:lvl7pPr>
              <a:defRPr sz="5400" b="1">
                <a:solidFill>
                  <a:srgbClr val="FFFFFF"/>
                </a:solidFill>
              </a:defRPr>
            </a:lvl7pPr>
            <a:lvl8pPr>
              <a:defRPr sz="5400" b="1">
                <a:solidFill>
                  <a:srgbClr val="FFFFFF"/>
                </a:solidFill>
              </a:defRPr>
            </a:lvl8pPr>
            <a:lvl9pPr>
              <a:defRPr sz="5400" b="1">
                <a:solidFill>
                  <a:srgbClr val="FFFFFF"/>
                </a:solidFill>
              </a:defRPr>
            </a:lvl9pPr>
          </a:lstStyle>
          <a:p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THEIA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EF8B56-D1B8-43B9-8DAF-979763157690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101917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400" b="0">
                <a:solidFill>
                  <a:srgbClr val="D6F3F0"/>
                </a:solidFill>
              </a:defRPr>
            </a:defPPr>
            <a:lvl1pPr>
              <a:defRPr sz="2400" b="0">
                <a:solidFill>
                  <a:srgbClr val="D6F3F0"/>
                </a:solidFill>
              </a:defRPr>
            </a:lvl1pPr>
            <a:lvl2pPr>
              <a:defRPr sz="2400" b="0">
                <a:solidFill>
                  <a:srgbClr val="D6F3F0"/>
                </a:solidFill>
              </a:defRPr>
            </a:lvl2pPr>
            <a:lvl3pPr>
              <a:defRPr sz="2400" b="0">
                <a:solidFill>
                  <a:srgbClr val="D6F3F0"/>
                </a:solidFill>
              </a:defRPr>
            </a:lvl3pPr>
            <a:lvl4pPr>
              <a:defRPr sz="2400" b="0">
                <a:solidFill>
                  <a:srgbClr val="D6F3F0"/>
                </a:solidFill>
              </a:defRPr>
            </a:lvl4pPr>
            <a:lvl5pPr>
              <a:defRPr sz="2400" b="0">
                <a:solidFill>
                  <a:srgbClr val="D6F3F0"/>
                </a:solidFill>
              </a:defRPr>
            </a:lvl5pPr>
            <a:lvl6pPr>
              <a:defRPr sz="2400" b="0">
                <a:solidFill>
                  <a:srgbClr val="D6F3F0"/>
                </a:solidFill>
              </a:defRPr>
            </a:lvl6pPr>
            <a:lvl7pPr>
              <a:defRPr sz="2400" b="0">
                <a:solidFill>
                  <a:srgbClr val="D6F3F0"/>
                </a:solidFill>
              </a:defRPr>
            </a:lvl7pPr>
            <a:lvl8pPr>
              <a:defRPr sz="2400" b="0">
                <a:solidFill>
                  <a:srgbClr val="D6F3F0"/>
                </a:solidFill>
              </a:defRPr>
            </a:lvl8pPr>
            <a:lvl9pPr>
              <a:defRPr sz="2400" b="0">
                <a:solidFill>
                  <a:srgbClr val="D6F3F0"/>
                </a:solidFill>
              </a:defRPr>
            </a:lvl9pPr>
          </a:lstStyle>
          <a:p>
            <a:pPr>
              <a:defRPr sz="2400" b="0">
                <a:solidFill>
                  <a:srgbClr val="D6F3F0"/>
                </a:solidFill>
              </a:defRPr>
            </a:pPr>
            <a:r>
              <a:rPr sz="2400" b="0">
                <a:solidFill>
                  <a:srgbClr val="D6F3F0"/>
                </a:solidFill>
              </a:rPr>
              <a:t>Indoor navigation for people who are blind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A4C2CF-E6FA-48F8-AB8B-30766C10FB1F}"/>
              </a:ext>
            </a:extLst>
          </p:cNvPr>
          <p:cNvSpPr>
            <a:spLocks noGrp="1"/>
          </p:cNvSpPr>
          <p:nvPr/>
        </p:nvSpPr>
        <p:spPr>
          <a:xfrm>
            <a:off x="781050" y="3648075"/>
            <a:ext cx="10001250" cy="28575"/>
          </a:xfrm>
          <a:prstGeom prst="rect">
            <a:avLst/>
          </a:prstGeom>
          <a:solidFill>
            <a:srgbClr val="087E82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D6EEAD-206F-4B39-ACA7-0001A79D59EF}"/>
              </a:ext>
            </a:extLst>
          </p:cNvPr>
          <p:cNvSpPr>
            <a:spLocks noGrp="1"/>
          </p:cNvSpPr>
          <p:nvPr/>
        </p:nvSpPr>
        <p:spPr>
          <a:xfrm>
            <a:off x="781050" y="4010025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00" b="0">
                <a:solidFill>
                  <a:srgbClr val="FFFFFF"/>
                </a:solidFill>
              </a:defRPr>
            </a:defPPr>
            <a:lvl1pPr>
              <a:defRPr sz="2100" b="0">
                <a:solidFill>
                  <a:srgbClr val="FFFFFF"/>
                </a:solidFill>
              </a:defRPr>
            </a:lvl1pPr>
            <a:lvl2pPr>
              <a:defRPr sz="2100" b="0">
                <a:solidFill>
                  <a:srgbClr val="FFFFFF"/>
                </a:solidFill>
              </a:defRPr>
            </a:lvl2pPr>
            <a:lvl3pPr>
              <a:defRPr sz="2100" b="0">
                <a:solidFill>
                  <a:srgbClr val="FFFFFF"/>
                </a:solidFill>
              </a:defRPr>
            </a:lvl3pPr>
            <a:lvl4pPr>
              <a:defRPr sz="2100" b="0">
                <a:solidFill>
                  <a:srgbClr val="FFFFFF"/>
                </a:solidFill>
              </a:defRPr>
            </a:lvl4pPr>
            <a:lvl5pPr>
              <a:defRPr sz="2100" b="0">
                <a:solidFill>
                  <a:srgbClr val="FFFFFF"/>
                </a:solidFill>
              </a:defRPr>
            </a:lvl5pPr>
            <a:lvl6pPr>
              <a:defRPr sz="2100" b="0">
                <a:solidFill>
                  <a:srgbClr val="FFFFFF"/>
                </a:solidFill>
              </a:defRPr>
            </a:lvl6pPr>
            <a:lvl7pPr>
              <a:defRPr sz="2100" b="0">
                <a:solidFill>
                  <a:srgbClr val="FFFFFF"/>
                </a:solidFill>
              </a:defRPr>
            </a:lvl7pPr>
            <a:lvl8pPr>
              <a:defRPr sz="2100" b="0">
                <a:solidFill>
                  <a:srgbClr val="FFFFFF"/>
                </a:solidFill>
              </a:defRPr>
            </a:lvl8pPr>
            <a:lvl9pPr>
              <a:defRPr sz="2100" b="0">
                <a:solidFill>
                  <a:srgbClr val="FFFFFF"/>
                </a:solidFill>
              </a:defRPr>
            </a:lvl9pPr>
          </a:lstStyle>
          <a:p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Phase I System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B112B-4202-49D3-BCF8-6177E5F757C7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0">
                <a:solidFill>
                  <a:srgbClr val="C7D8E2"/>
                </a:solidFill>
              </a:defRPr>
            </a:defPPr>
            <a:lvl1pPr>
              <a:defRPr sz="1725" b="0">
                <a:solidFill>
                  <a:srgbClr val="C7D8E2"/>
                </a:solidFill>
              </a:defRPr>
            </a:lvl1pPr>
            <a:lvl2pPr>
              <a:defRPr sz="1725" b="0">
                <a:solidFill>
                  <a:srgbClr val="C7D8E2"/>
                </a:solidFill>
              </a:defRPr>
            </a:lvl2pPr>
            <a:lvl3pPr>
              <a:defRPr sz="1725" b="0">
                <a:solidFill>
                  <a:srgbClr val="C7D8E2"/>
                </a:solidFill>
              </a:defRPr>
            </a:lvl3pPr>
            <a:lvl4pPr>
              <a:defRPr sz="1725" b="0">
                <a:solidFill>
                  <a:srgbClr val="C7D8E2"/>
                </a:solidFill>
              </a:defRPr>
            </a:lvl4pPr>
            <a:lvl5pPr>
              <a:defRPr sz="1725" b="0">
                <a:solidFill>
                  <a:srgbClr val="C7D8E2"/>
                </a:solidFill>
              </a:defRPr>
            </a:lvl5pPr>
            <a:lvl6pPr>
              <a:defRPr sz="1725" b="0">
                <a:solidFill>
                  <a:srgbClr val="C7D8E2"/>
                </a:solidFill>
              </a:defRPr>
            </a:lvl6pPr>
            <a:lvl7pPr>
              <a:defRPr sz="1725" b="0">
                <a:solidFill>
                  <a:srgbClr val="C7D8E2"/>
                </a:solidFill>
              </a:defRPr>
            </a:lvl7pPr>
            <a:lvl8pPr>
              <a:defRPr sz="1725" b="0">
                <a:solidFill>
                  <a:srgbClr val="C7D8E2"/>
                </a:solidFill>
              </a:defRPr>
            </a:lvl8pPr>
            <a:lvl9pPr>
              <a:defRPr sz="1725" b="0">
                <a:solidFill>
                  <a:srgbClr val="C7D8E2"/>
                </a:solidFill>
              </a:defRPr>
            </a:lvl9pPr>
          </a:lstStyle>
          <a:p>
            <a:pPr>
              <a:defRPr sz="1725" b="0">
                <a:solidFill>
                  <a:srgbClr val="C7D8E2"/>
                </a:solidFill>
              </a:defRPr>
            </a:pPr>
            <a:r>
              <a:rPr sz="1725" b="0">
                <a:solidFill>
                  <a:srgbClr val="C7D8E2"/>
                </a:solidFill>
              </a:rPr>
              <a:t>Team 15  •  CptS 484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687C91-E102-4DAF-9ED7-8EB33A29914C}"/>
              </a:ext>
            </a:extLst>
          </p:cNvPr>
          <p:cNvSpPr>
            <a:spLocks noGrp="1"/>
          </p:cNvSpPr>
          <p:nvPr/>
        </p:nvSpPr>
        <p:spPr>
          <a:xfrm>
            <a:off x="781050" y="5457825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C7D8E2"/>
                </a:solidFill>
              </a:defRPr>
            </a:defPPr>
            <a:lvl1pPr>
              <a:defRPr sz="1575" b="0">
                <a:solidFill>
                  <a:srgbClr val="C7D8E2"/>
                </a:solidFill>
              </a:defRPr>
            </a:lvl1pPr>
            <a:lvl2pPr>
              <a:defRPr sz="1575" b="0">
                <a:solidFill>
                  <a:srgbClr val="C7D8E2"/>
                </a:solidFill>
              </a:defRPr>
            </a:lvl2pPr>
            <a:lvl3pPr>
              <a:defRPr sz="1575" b="0">
                <a:solidFill>
                  <a:srgbClr val="C7D8E2"/>
                </a:solidFill>
              </a:defRPr>
            </a:lvl3pPr>
            <a:lvl4pPr>
              <a:defRPr sz="1575" b="0">
                <a:solidFill>
                  <a:srgbClr val="C7D8E2"/>
                </a:solidFill>
              </a:defRPr>
            </a:lvl4pPr>
            <a:lvl5pPr>
              <a:defRPr sz="1575" b="0">
                <a:solidFill>
                  <a:srgbClr val="C7D8E2"/>
                </a:solidFill>
              </a:defRPr>
            </a:lvl5pPr>
            <a:lvl6pPr>
              <a:defRPr sz="1575" b="0">
                <a:solidFill>
                  <a:srgbClr val="C7D8E2"/>
                </a:solidFill>
              </a:defRPr>
            </a:lvl6pPr>
            <a:lvl7pPr>
              <a:defRPr sz="1575" b="0">
                <a:solidFill>
                  <a:srgbClr val="C7D8E2"/>
                </a:solidFill>
              </a:defRPr>
            </a:lvl7pPr>
            <a:lvl8pPr>
              <a:defRPr sz="1575" b="0">
                <a:solidFill>
                  <a:srgbClr val="C7D8E2"/>
                </a:solidFill>
              </a:defRPr>
            </a:lvl8pPr>
            <a:lvl9pPr>
              <a:defRPr sz="1575" b="0">
                <a:solidFill>
                  <a:srgbClr val="C7D8E2"/>
                </a:solidFill>
              </a:defRPr>
            </a:lvl9pPr>
          </a:lstStyle>
          <a:p>
            <a:pPr>
              <a:defRPr sz="1575" b="0">
                <a:solidFill>
                  <a:srgbClr val="C7D8E2"/>
                </a:solidFill>
              </a:defRPr>
            </a:pPr>
            <a:r>
              <a:rPr sz="1575" b="0">
                <a:solidFill>
                  <a:srgbClr val="C7D8E2"/>
                </a:solidFill>
              </a:rPr>
              <a:t>Four scenario pairs and priority-scenario analysis</a:t>
            </a:r>
          </a:p>
        </p:txBody>
      </p:sp>
    </p:spTree>
    <p:extLst>
      <p:ext uri="{BB962C8B-B14F-4D97-AF65-F5344CB8AC3E}">
        <p14:creationId xmlns:p14="http://schemas.microsoft.com/office/powerpoint/2010/main" val="146014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FDADB8C-EC31-4286-BB8E-81B6EDEB4D52}"/>
              </a:ext>
            </a:extLst>
          </p:cNvPr>
          <p:cNvSpPr>
            <a:spLocks noGrp="1"/>
          </p:cNvSpPr>
          <p:nvPr/>
        </p:nvSpPr>
        <p:spPr>
          <a:xfrm>
            <a:off x="628650" y="276225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 b="1">
                <a:solidFill>
                  <a:srgbClr val="087E82"/>
                </a:solidFill>
              </a:defRPr>
            </a:defPPr>
            <a:lvl1pPr>
              <a:defRPr sz="1125" b="1">
                <a:solidFill>
                  <a:srgbClr val="087E82"/>
                </a:solidFill>
              </a:defRPr>
            </a:lvl1pPr>
            <a:lvl2pPr>
              <a:defRPr sz="1125" b="1">
                <a:solidFill>
                  <a:srgbClr val="087E82"/>
                </a:solidFill>
              </a:defRPr>
            </a:lvl2pPr>
            <a:lvl3pPr>
              <a:defRPr sz="1125" b="1">
                <a:solidFill>
                  <a:srgbClr val="087E82"/>
                </a:solidFill>
              </a:defRPr>
            </a:lvl3pPr>
            <a:lvl4pPr>
              <a:defRPr sz="1125" b="1">
                <a:solidFill>
                  <a:srgbClr val="087E82"/>
                </a:solidFill>
              </a:defRPr>
            </a:lvl4pPr>
            <a:lvl5pPr>
              <a:defRPr sz="1125" b="1">
                <a:solidFill>
                  <a:srgbClr val="087E82"/>
                </a:solidFill>
              </a:defRPr>
            </a:lvl5pPr>
            <a:lvl6pPr>
              <a:defRPr sz="1125" b="1">
                <a:solidFill>
                  <a:srgbClr val="087E82"/>
                </a:solidFill>
              </a:defRPr>
            </a:lvl6pPr>
            <a:lvl7pPr>
              <a:defRPr sz="1125" b="1">
                <a:solidFill>
                  <a:srgbClr val="087E82"/>
                </a:solidFill>
              </a:defRPr>
            </a:lvl7pPr>
            <a:lvl8pPr>
              <a:defRPr sz="1125" b="1">
                <a:solidFill>
                  <a:srgbClr val="087E82"/>
                </a:solidFill>
              </a:defRPr>
            </a:lvl8pPr>
            <a:lvl9pPr>
              <a:defRPr sz="1125" b="1">
                <a:solidFill>
                  <a:srgbClr val="087E82"/>
                </a:solidFill>
              </a:defRPr>
            </a:lvl9pPr>
          </a:lstStyle>
          <a:p>
            <a:pPr>
              <a:defRPr sz="1125" b="1">
                <a:solidFill>
                  <a:srgbClr val="087E82"/>
                </a:solidFill>
              </a:defRPr>
            </a:pPr>
            <a:r>
              <a:rPr sz="1125" b="1">
                <a:solidFill>
                  <a:srgbClr val="087E82"/>
                </a:solidFill>
              </a:rPr>
              <a:t>THEIA  /  PHASE 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3A0A34-D9E3-4830-A1E3-D14A2784F85D}"/>
              </a:ext>
            </a:extLst>
          </p:cNvPr>
          <p:cNvSpPr>
            <a:spLocks noGrp="1"/>
          </p:cNvSpPr>
          <p:nvPr/>
        </p:nvSpPr>
        <p:spPr>
          <a:xfrm>
            <a:off x="628650" y="6953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850" b="1">
                <a:solidFill>
                  <a:srgbClr val="152C44"/>
                </a:solidFill>
              </a:defRPr>
            </a:defPPr>
            <a:lvl1pPr>
              <a:defRPr sz="2850" b="1">
                <a:solidFill>
                  <a:srgbClr val="152C44"/>
                </a:solidFill>
              </a:defRPr>
            </a:lvl1pPr>
            <a:lvl2pPr>
              <a:defRPr sz="2850" b="1">
                <a:solidFill>
                  <a:srgbClr val="152C44"/>
                </a:solidFill>
              </a:defRPr>
            </a:lvl2pPr>
            <a:lvl3pPr>
              <a:defRPr sz="2850" b="1">
                <a:solidFill>
                  <a:srgbClr val="152C44"/>
                </a:solidFill>
              </a:defRPr>
            </a:lvl3pPr>
            <a:lvl4pPr>
              <a:defRPr sz="2850" b="1">
                <a:solidFill>
                  <a:srgbClr val="152C44"/>
                </a:solidFill>
              </a:defRPr>
            </a:lvl4pPr>
            <a:lvl5pPr>
              <a:defRPr sz="2850" b="1">
                <a:solidFill>
                  <a:srgbClr val="152C44"/>
                </a:solidFill>
              </a:defRPr>
            </a:lvl5pPr>
            <a:lvl6pPr>
              <a:defRPr sz="2850" b="1">
                <a:solidFill>
                  <a:srgbClr val="152C44"/>
                </a:solidFill>
              </a:defRPr>
            </a:lvl6pPr>
            <a:lvl7pPr>
              <a:defRPr sz="2850" b="1">
                <a:solidFill>
                  <a:srgbClr val="152C44"/>
                </a:solidFill>
              </a:defRPr>
            </a:lvl7pPr>
            <a:lvl8pPr>
              <a:defRPr sz="2850" b="1">
                <a:solidFill>
                  <a:srgbClr val="152C44"/>
                </a:solidFill>
              </a:defRPr>
            </a:lvl8pPr>
            <a:lvl9pPr>
              <a:defRPr sz="2850" b="1">
                <a:solidFill>
                  <a:srgbClr val="152C44"/>
                </a:solidFill>
              </a:defRPr>
            </a:lvl9pPr>
          </a:lstStyle>
          <a:p>
            <a:pPr>
              <a:defRPr sz="2850" b="1">
                <a:solidFill>
                  <a:srgbClr val="152C44"/>
                </a:solidFill>
              </a:defRPr>
            </a:pPr>
            <a:r>
              <a:rPr sz="2850" b="1">
                <a:solidFill>
                  <a:srgbClr val="152C44"/>
                </a:solidFill>
              </a:rPr>
              <a:t>Scenario 1: Accurate turning instructions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89D3A9-083B-4A17-AF3F-CD396D0124FC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906125" cy="19050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417E05-7589-4CF8-B68C-FBCC0E3C7B2A}"/>
              </a:ext>
            </a:extLst>
          </p:cNvPr>
          <p:cNvSpPr>
            <a:spLocks noGrp="1"/>
          </p:cNvSpPr>
          <p:nvPr/>
        </p:nvSpPr>
        <p:spPr>
          <a:xfrm>
            <a:off x="638175" y="1533525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536672"/>
                </a:solidFill>
              </a:defRPr>
            </a:defPPr>
            <a:lvl1pPr>
              <a:defRPr sz="1350" b="0">
                <a:solidFill>
                  <a:srgbClr val="536672"/>
                </a:solidFill>
              </a:defRPr>
            </a:lvl1pPr>
            <a:lvl2pPr>
              <a:defRPr sz="1350" b="0">
                <a:solidFill>
                  <a:srgbClr val="536672"/>
                </a:solidFill>
              </a:defRPr>
            </a:lvl2pPr>
            <a:lvl3pPr>
              <a:defRPr sz="1350" b="0">
                <a:solidFill>
                  <a:srgbClr val="536672"/>
                </a:solidFill>
              </a:defRPr>
            </a:lvl3pPr>
            <a:lvl4pPr>
              <a:defRPr sz="1350" b="0">
                <a:solidFill>
                  <a:srgbClr val="536672"/>
                </a:solidFill>
              </a:defRPr>
            </a:lvl4pPr>
            <a:lvl5pPr>
              <a:defRPr sz="1350" b="0">
                <a:solidFill>
                  <a:srgbClr val="536672"/>
                </a:solidFill>
              </a:defRPr>
            </a:lvl5pPr>
            <a:lvl6pPr>
              <a:defRPr sz="1350" b="0">
                <a:solidFill>
                  <a:srgbClr val="536672"/>
                </a:solidFill>
              </a:defRPr>
            </a:lvl6pPr>
            <a:lvl7pPr>
              <a:defRPr sz="1350" b="0">
                <a:solidFill>
                  <a:srgbClr val="536672"/>
                </a:solidFill>
              </a:defRPr>
            </a:lvl7pPr>
            <a:lvl8pPr>
              <a:defRPr sz="1350" b="0">
                <a:solidFill>
                  <a:srgbClr val="536672"/>
                </a:solidFill>
              </a:defRPr>
            </a:lvl8pPr>
            <a:lvl9pPr>
              <a:defRPr sz="1350" b="0">
                <a:solidFill>
                  <a:srgbClr val="536672"/>
                </a:solidFill>
              </a:defRPr>
            </a:lvl9pPr>
          </a:lstStyle>
          <a:p>
            <a:pPr>
              <a:defRPr sz="1350" b="0">
                <a:solidFill>
                  <a:srgbClr val="536672"/>
                </a:solidFill>
              </a:defRPr>
            </a:pPr>
            <a:r>
              <a:rPr sz="1350" b="0">
                <a:solidFill>
                  <a:srgbClr val="536672"/>
                </a:solidFill>
              </a:rPr>
              <a:t>Feature: Step-by-step guidance and precise turn timing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247D8E-5ECB-4509-801B-064D32EBACE7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00" b="0">
                <a:solidFill>
                  <a:srgbClr val="536672"/>
                </a:solidFill>
              </a:defRPr>
            </a:defPPr>
            <a:lvl1pPr>
              <a:defRPr sz="1200" b="0">
                <a:solidFill>
                  <a:srgbClr val="536672"/>
                </a:solidFill>
              </a:defRPr>
            </a:lvl1pPr>
            <a:lvl2pPr>
              <a:defRPr sz="1200" b="0">
                <a:solidFill>
                  <a:srgbClr val="536672"/>
                </a:solidFill>
              </a:defRPr>
            </a:lvl2pPr>
            <a:lvl3pPr>
              <a:defRPr sz="1200" b="0">
                <a:solidFill>
                  <a:srgbClr val="536672"/>
                </a:solidFill>
              </a:defRPr>
            </a:lvl3pPr>
            <a:lvl4pPr>
              <a:defRPr sz="1200" b="0">
                <a:solidFill>
                  <a:srgbClr val="536672"/>
                </a:solidFill>
              </a:defRPr>
            </a:lvl4pPr>
            <a:lvl5pPr>
              <a:defRPr sz="1200" b="0">
                <a:solidFill>
                  <a:srgbClr val="536672"/>
                </a:solidFill>
              </a:defRPr>
            </a:lvl5pPr>
            <a:lvl6pPr>
              <a:defRPr sz="1200" b="0">
                <a:solidFill>
                  <a:srgbClr val="536672"/>
                </a:solidFill>
              </a:defRPr>
            </a:lvl6pPr>
            <a:lvl7pPr>
              <a:defRPr sz="1200" b="0">
                <a:solidFill>
                  <a:srgbClr val="536672"/>
                </a:solidFill>
              </a:defRPr>
            </a:lvl7pPr>
            <a:lvl8pPr>
              <a:defRPr sz="1200" b="0">
                <a:solidFill>
                  <a:srgbClr val="536672"/>
                </a:solidFill>
              </a:defRPr>
            </a:lvl8pPr>
            <a:lvl9pPr>
              <a:defRPr sz="1200" b="0">
                <a:solidFill>
                  <a:srgbClr val="536672"/>
                </a:solidFill>
              </a:defRPr>
            </a:lvl9pPr>
          </a:lstStyle>
          <a:p>
            <a:pPr>
              <a:defRPr sz="1200" b="0">
                <a:solidFill>
                  <a:srgbClr val="536672"/>
                </a:solidFill>
              </a:defRPr>
            </a:pPr>
            <a:r>
              <a:rPr sz="1200" b="0">
                <a:solidFill>
                  <a:srgbClr val="536672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BBACE-9513-4C0D-B61B-C20FCE3E2B72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AS-IS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C9D31-AC85-4D17-9965-63D6442DEEC5}"/>
              </a:ext>
            </a:extLst>
          </p:cNvPr>
          <p:cNvSpPr>
            <a:spLocks noGrp="1"/>
          </p:cNvSpPr>
          <p:nvPr/>
        </p:nvSpPr>
        <p:spPr>
          <a:xfrm>
            <a:off x="6400800" y="2171700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087E82"/>
                </a:solidFill>
              </a:defRPr>
            </a:defPPr>
            <a:lvl1pPr>
              <a:defRPr sz="1950" b="1">
                <a:solidFill>
                  <a:srgbClr val="087E82"/>
                </a:solidFill>
              </a:defRPr>
            </a:lvl1pPr>
            <a:lvl2pPr>
              <a:defRPr sz="1950" b="1">
                <a:solidFill>
                  <a:srgbClr val="087E82"/>
                </a:solidFill>
              </a:defRPr>
            </a:lvl2pPr>
            <a:lvl3pPr>
              <a:defRPr sz="1950" b="1">
                <a:solidFill>
                  <a:srgbClr val="087E82"/>
                </a:solidFill>
              </a:defRPr>
            </a:lvl3pPr>
            <a:lvl4pPr>
              <a:defRPr sz="1950" b="1">
                <a:solidFill>
                  <a:srgbClr val="087E82"/>
                </a:solidFill>
              </a:defRPr>
            </a:lvl4pPr>
            <a:lvl5pPr>
              <a:defRPr sz="1950" b="1">
                <a:solidFill>
                  <a:srgbClr val="087E82"/>
                </a:solidFill>
              </a:defRPr>
            </a:lvl5pPr>
            <a:lvl6pPr>
              <a:defRPr sz="1950" b="1">
                <a:solidFill>
                  <a:srgbClr val="087E82"/>
                </a:solidFill>
              </a:defRPr>
            </a:lvl6pPr>
            <a:lvl7pPr>
              <a:defRPr sz="1950" b="1">
                <a:solidFill>
                  <a:srgbClr val="087E82"/>
                </a:solidFill>
              </a:defRPr>
            </a:lvl7pPr>
            <a:lvl8pPr>
              <a:defRPr sz="1950" b="1">
                <a:solidFill>
                  <a:srgbClr val="087E82"/>
                </a:solidFill>
              </a:defRPr>
            </a:lvl8pPr>
            <a:lvl9pPr>
              <a:defRPr sz="1950" b="1">
                <a:solidFill>
                  <a:srgbClr val="087E82"/>
                </a:solidFill>
              </a:defRPr>
            </a:lvl9pPr>
          </a:lstStyle>
          <a:p>
            <a:pPr>
              <a:defRPr sz="1950" b="1">
                <a:solidFill>
                  <a:srgbClr val="087E82"/>
                </a:solidFill>
              </a:defRPr>
            </a:pPr>
            <a:r>
              <a:rPr sz="1950" b="1">
                <a:solidFill>
                  <a:srgbClr val="087E82"/>
                </a:solidFill>
              </a:rPr>
              <a:t>TO-BE WITH THEIA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6448B-F5C8-4CD0-8512-894389401658}"/>
              </a:ext>
            </a:extLst>
          </p:cNvPr>
          <p:cNvSpPr>
            <a:spLocks noGrp="1"/>
          </p:cNvSpPr>
          <p:nvPr/>
        </p:nvSpPr>
        <p:spPr>
          <a:xfrm>
            <a:off x="6019800" y="2200275"/>
            <a:ext cx="19050" cy="3733800"/>
          </a:xfrm>
          <a:prstGeom prst="rect">
            <a:avLst/>
          </a:prstGeom>
          <a:solidFill>
            <a:srgbClr val="D8E4E6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1CB0D-9E64-4677-B9E3-082FCFDBB9D1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1. Stevie is walking to his next classroom and knows he needs to make a left turn somewhere along the hallway.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D2567-6EFF-4DCC-B87B-84C5362758DA}"/>
              </a:ext>
            </a:extLst>
          </p:cNvPr>
          <p:cNvSpPr>
            <a:spLocks noGrp="1"/>
          </p:cNvSpPr>
          <p:nvPr/>
        </p:nvSpPr>
        <p:spPr>
          <a:xfrm>
            <a:off x="628650" y="36195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2. He tries to count his steps and remember the directions, but he cannot tell exactly where the corner begins.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E6AB3-229A-4947-BBDC-C6A5837E16C9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3. Stevie guesses when to turn, moves left too early, and accidentally walks into the wall.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2157BA-E3A0-42E6-AFEC-B79D27912B71}"/>
              </a:ext>
            </a:extLst>
          </p:cNvPr>
          <p:cNvSpPr>
            <a:spLocks noGrp="1"/>
          </p:cNvSpPr>
          <p:nvPr/>
        </p:nvSpPr>
        <p:spPr>
          <a:xfrm>
            <a:off x="628650" y="53340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4. After hurting his head, he stops walking and asks someone nearby to help him find the classroom.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1FA6F4-5BDF-4BD1-85F6-219DDCF53218}"/>
              </a:ext>
            </a:extLst>
          </p:cNvPr>
          <p:cNvSpPr>
            <a:spLocks noGrp="1"/>
          </p:cNvSpPr>
          <p:nvPr/>
        </p:nvSpPr>
        <p:spPr>
          <a:xfrm>
            <a:off x="6400800" y="27622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1. Stevie opens THEIA and says the name or room number of the classroom he wants to reach.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F25CB2-B900-40CC-B953-656907A0F5FD}"/>
              </a:ext>
            </a:extLst>
          </p:cNvPr>
          <p:cNvSpPr>
            <a:spLocks noGrp="1"/>
          </p:cNvSpPr>
          <p:nvPr/>
        </p:nvSpPr>
        <p:spPr>
          <a:xfrm>
            <a:off x="6400800" y="36195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2. The app determines his current indoor location and finds a route to that classroom.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F0D89-46C3-402F-B15D-62ECDDAD06B2}"/>
              </a:ext>
            </a:extLst>
          </p:cNvPr>
          <p:cNvSpPr>
            <a:spLocks noGrp="1"/>
          </p:cNvSpPr>
          <p:nvPr/>
        </p:nvSpPr>
        <p:spPr>
          <a:xfrm>
            <a:off x="6400800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3. THEIA gives spoken directions as Stevie walks, including a warning when he is approaching the turn.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09016E-7DFB-4ED2-AC58-273596595D21}"/>
              </a:ext>
            </a:extLst>
          </p:cNvPr>
          <p:cNvSpPr>
            <a:spLocks noGrp="1"/>
          </p:cNvSpPr>
          <p:nvPr/>
        </p:nvSpPr>
        <p:spPr>
          <a:xfrm>
            <a:off x="6400800" y="53340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4. When he reaches the correct spot, THEIA tells him to stop and turn left before continuing.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0404C1-2D17-4327-A265-8210D1DE6A0C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809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36672"/>
                </a:solidFill>
              </a:defRPr>
            </a:defPPr>
            <a:lvl1pPr>
              <a:defRPr sz="1275" b="0">
                <a:solidFill>
                  <a:srgbClr val="536672"/>
                </a:solidFill>
              </a:defRPr>
            </a:lvl1pPr>
            <a:lvl2pPr>
              <a:defRPr sz="1275" b="0">
                <a:solidFill>
                  <a:srgbClr val="536672"/>
                </a:solidFill>
              </a:defRPr>
            </a:lvl2pPr>
            <a:lvl3pPr>
              <a:defRPr sz="1275" b="0">
                <a:solidFill>
                  <a:srgbClr val="536672"/>
                </a:solidFill>
              </a:defRPr>
            </a:lvl3pPr>
            <a:lvl4pPr>
              <a:defRPr sz="1275" b="0">
                <a:solidFill>
                  <a:srgbClr val="536672"/>
                </a:solidFill>
              </a:defRPr>
            </a:lvl4pPr>
            <a:lvl5pPr>
              <a:defRPr sz="1275" b="0">
                <a:solidFill>
                  <a:srgbClr val="536672"/>
                </a:solidFill>
              </a:defRPr>
            </a:lvl5pPr>
            <a:lvl6pPr>
              <a:defRPr sz="1275" b="0">
                <a:solidFill>
                  <a:srgbClr val="536672"/>
                </a:solidFill>
              </a:defRPr>
            </a:lvl6pPr>
            <a:lvl7pPr>
              <a:defRPr sz="1275" b="0">
                <a:solidFill>
                  <a:srgbClr val="536672"/>
                </a:solidFill>
              </a:defRPr>
            </a:lvl7pPr>
            <a:lvl8pPr>
              <a:defRPr sz="1275" b="0">
                <a:solidFill>
                  <a:srgbClr val="536672"/>
                </a:solidFill>
              </a:defRPr>
            </a:lvl8pPr>
            <a:lvl9pPr>
              <a:defRPr sz="1275" b="0">
                <a:solidFill>
                  <a:srgbClr val="536672"/>
                </a:solidFill>
              </a:defRPr>
            </a:lvl9pPr>
          </a:lstStyle>
          <a:p>
            <a:pPr>
              <a:defRPr sz="1275" b="0">
                <a:solidFill>
                  <a:srgbClr val="536672"/>
                </a:solidFill>
              </a:defRPr>
            </a:pPr>
            <a:r>
              <a:rPr sz="1275" b="0">
                <a:solidFill>
                  <a:srgbClr val="536672"/>
                </a:solidFill>
              </a:rPr>
              <a:t>Primary user: Blind student navigating to class</a:t>
            </a:r>
          </a:p>
        </p:txBody>
      </p:sp>
    </p:spTree>
    <p:extLst>
      <p:ext uri="{BB962C8B-B14F-4D97-AF65-F5344CB8AC3E}">
        <p14:creationId xmlns:p14="http://schemas.microsoft.com/office/powerpoint/2010/main" val="143764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D6A16A0-CBBB-45C4-B204-273E8F048775}"/>
              </a:ext>
            </a:extLst>
          </p:cNvPr>
          <p:cNvSpPr>
            <a:spLocks noGrp="1"/>
          </p:cNvSpPr>
          <p:nvPr/>
        </p:nvSpPr>
        <p:spPr>
          <a:xfrm>
            <a:off x="628650" y="276225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 b="1">
                <a:solidFill>
                  <a:srgbClr val="087E82"/>
                </a:solidFill>
              </a:defRPr>
            </a:defPPr>
            <a:lvl1pPr>
              <a:defRPr sz="1125" b="1">
                <a:solidFill>
                  <a:srgbClr val="087E82"/>
                </a:solidFill>
              </a:defRPr>
            </a:lvl1pPr>
            <a:lvl2pPr>
              <a:defRPr sz="1125" b="1">
                <a:solidFill>
                  <a:srgbClr val="087E82"/>
                </a:solidFill>
              </a:defRPr>
            </a:lvl2pPr>
            <a:lvl3pPr>
              <a:defRPr sz="1125" b="1">
                <a:solidFill>
                  <a:srgbClr val="087E82"/>
                </a:solidFill>
              </a:defRPr>
            </a:lvl3pPr>
            <a:lvl4pPr>
              <a:defRPr sz="1125" b="1">
                <a:solidFill>
                  <a:srgbClr val="087E82"/>
                </a:solidFill>
              </a:defRPr>
            </a:lvl4pPr>
            <a:lvl5pPr>
              <a:defRPr sz="1125" b="1">
                <a:solidFill>
                  <a:srgbClr val="087E82"/>
                </a:solidFill>
              </a:defRPr>
            </a:lvl5pPr>
            <a:lvl6pPr>
              <a:defRPr sz="1125" b="1">
                <a:solidFill>
                  <a:srgbClr val="087E82"/>
                </a:solidFill>
              </a:defRPr>
            </a:lvl6pPr>
            <a:lvl7pPr>
              <a:defRPr sz="1125" b="1">
                <a:solidFill>
                  <a:srgbClr val="087E82"/>
                </a:solidFill>
              </a:defRPr>
            </a:lvl7pPr>
            <a:lvl8pPr>
              <a:defRPr sz="1125" b="1">
                <a:solidFill>
                  <a:srgbClr val="087E82"/>
                </a:solidFill>
              </a:defRPr>
            </a:lvl8pPr>
            <a:lvl9pPr>
              <a:defRPr sz="1125" b="1">
                <a:solidFill>
                  <a:srgbClr val="087E82"/>
                </a:solidFill>
              </a:defRPr>
            </a:lvl9pPr>
          </a:lstStyle>
          <a:p>
            <a:pPr>
              <a:defRPr sz="1125" b="1">
                <a:solidFill>
                  <a:srgbClr val="087E82"/>
                </a:solidFill>
              </a:defRPr>
            </a:pPr>
            <a:r>
              <a:rPr sz="1125" b="1">
                <a:solidFill>
                  <a:srgbClr val="087E82"/>
                </a:solidFill>
              </a:rPr>
              <a:t>THEIA  /  PHASE 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B962B9-3051-410A-8BB6-28D744482141}"/>
              </a:ext>
            </a:extLst>
          </p:cNvPr>
          <p:cNvSpPr>
            <a:spLocks noGrp="1"/>
          </p:cNvSpPr>
          <p:nvPr/>
        </p:nvSpPr>
        <p:spPr>
          <a:xfrm>
            <a:off x="628650" y="6953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850" b="1">
                <a:solidFill>
                  <a:srgbClr val="152C44"/>
                </a:solidFill>
              </a:defRPr>
            </a:defPPr>
            <a:lvl1pPr>
              <a:defRPr sz="2850" b="1">
                <a:solidFill>
                  <a:srgbClr val="152C44"/>
                </a:solidFill>
              </a:defRPr>
            </a:lvl1pPr>
            <a:lvl2pPr>
              <a:defRPr sz="2850" b="1">
                <a:solidFill>
                  <a:srgbClr val="152C44"/>
                </a:solidFill>
              </a:defRPr>
            </a:lvl2pPr>
            <a:lvl3pPr>
              <a:defRPr sz="2850" b="1">
                <a:solidFill>
                  <a:srgbClr val="152C44"/>
                </a:solidFill>
              </a:defRPr>
            </a:lvl3pPr>
            <a:lvl4pPr>
              <a:defRPr sz="2850" b="1">
                <a:solidFill>
                  <a:srgbClr val="152C44"/>
                </a:solidFill>
              </a:defRPr>
            </a:lvl4pPr>
            <a:lvl5pPr>
              <a:defRPr sz="2850" b="1">
                <a:solidFill>
                  <a:srgbClr val="152C44"/>
                </a:solidFill>
              </a:defRPr>
            </a:lvl5pPr>
            <a:lvl6pPr>
              <a:defRPr sz="2850" b="1">
                <a:solidFill>
                  <a:srgbClr val="152C44"/>
                </a:solidFill>
              </a:defRPr>
            </a:lvl6pPr>
            <a:lvl7pPr>
              <a:defRPr sz="2850" b="1">
                <a:solidFill>
                  <a:srgbClr val="152C44"/>
                </a:solidFill>
              </a:defRPr>
            </a:lvl7pPr>
            <a:lvl8pPr>
              <a:defRPr sz="2850" b="1">
                <a:solidFill>
                  <a:srgbClr val="152C44"/>
                </a:solidFill>
              </a:defRPr>
            </a:lvl8pPr>
            <a:lvl9pPr>
              <a:defRPr sz="2850" b="1">
                <a:solidFill>
                  <a:srgbClr val="152C44"/>
                </a:solidFill>
              </a:defRPr>
            </a:lvl9pPr>
          </a:lstStyle>
          <a:p>
            <a:pPr>
              <a:defRPr sz="2850" b="1">
                <a:solidFill>
                  <a:srgbClr val="152C44"/>
                </a:solidFill>
              </a:defRPr>
            </a:pPr>
            <a:r>
              <a:rPr sz="2850" b="1">
                <a:solidFill>
                  <a:srgbClr val="152C44"/>
                </a:solidFill>
              </a:rPr>
              <a:t>Scenario 2: Obstacle avoidance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A10694-5904-4E1E-B23B-18629BD2C77B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906125" cy="19050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56EE9-A54D-47B0-91CD-8126C56907BD}"/>
              </a:ext>
            </a:extLst>
          </p:cNvPr>
          <p:cNvSpPr>
            <a:spLocks noGrp="1"/>
          </p:cNvSpPr>
          <p:nvPr/>
        </p:nvSpPr>
        <p:spPr>
          <a:xfrm>
            <a:off x="638175" y="1533525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536672"/>
                </a:solidFill>
              </a:defRPr>
            </a:defPPr>
            <a:lvl1pPr>
              <a:defRPr sz="1350" b="0">
                <a:solidFill>
                  <a:srgbClr val="536672"/>
                </a:solidFill>
              </a:defRPr>
            </a:lvl1pPr>
            <a:lvl2pPr>
              <a:defRPr sz="1350" b="0">
                <a:solidFill>
                  <a:srgbClr val="536672"/>
                </a:solidFill>
              </a:defRPr>
            </a:lvl2pPr>
            <a:lvl3pPr>
              <a:defRPr sz="1350" b="0">
                <a:solidFill>
                  <a:srgbClr val="536672"/>
                </a:solidFill>
              </a:defRPr>
            </a:lvl3pPr>
            <a:lvl4pPr>
              <a:defRPr sz="1350" b="0">
                <a:solidFill>
                  <a:srgbClr val="536672"/>
                </a:solidFill>
              </a:defRPr>
            </a:lvl4pPr>
            <a:lvl5pPr>
              <a:defRPr sz="1350" b="0">
                <a:solidFill>
                  <a:srgbClr val="536672"/>
                </a:solidFill>
              </a:defRPr>
            </a:lvl5pPr>
            <a:lvl6pPr>
              <a:defRPr sz="1350" b="0">
                <a:solidFill>
                  <a:srgbClr val="536672"/>
                </a:solidFill>
              </a:defRPr>
            </a:lvl6pPr>
            <a:lvl7pPr>
              <a:defRPr sz="1350" b="0">
                <a:solidFill>
                  <a:srgbClr val="536672"/>
                </a:solidFill>
              </a:defRPr>
            </a:lvl7pPr>
            <a:lvl8pPr>
              <a:defRPr sz="1350" b="0">
                <a:solidFill>
                  <a:srgbClr val="536672"/>
                </a:solidFill>
              </a:defRPr>
            </a:lvl8pPr>
            <a:lvl9pPr>
              <a:defRPr sz="1350" b="0">
                <a:solidFill>
                  <a:srgbClr val="536672"/>
                </a:solidFill>
              </a:defRPr>
            </a:lvl9pPr>
          </a:lstStyle>
          <a:p>
            <a:pPr>
              <a:defRPr sz="1350" b="0">
                <a:solidFill>
                  <a:srgbClr val="536672"/>
                </a:solidFill>
              </a:defRPr>
            </a:pPr>
            <a:r>
              <a:rPr sz="1350" b="0">
                <a:solidFill>
                  <a:srgbClr val="536672"/>
                </a:solidFill>
              </a:rPr>
              <a:t>Feature: Obstacle detection and collision warnings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D6688-CF22-4DD7-ABEF-32BB96D7FA93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00" b="0">
                <a:solidFill>
                  <a:srgbClr val="536672"/>
                </a:solidFill>
              </a:defRPr>
            </a:defPPr>
            <a:lvl1pPr>
              <a:defRPr sz="1200" b="0">
                <a:solidFill>
                  <a:srgbClr val="536672"/>
                </a:solidFill>
              </a:defRPr>
            </a:lvl1pPr>
            <a:lvl2pPr>
              <a:defRPr sz="1200" b="0">
                <a:solidFill>
                  <a:srgbClr val="536672"/>
                </a:solidFill>
              </a:defRPr>
            </a:lvl2pPr>
            <a:lvl3pPr>
              <a:defRPr sz="1200" b="0">
                <a:solidFill>
                  <a:srgbClr val="536672"/>
                </a:solidFill>
              </a:defRPr>
            </a:lvl3pPr>
            <a:lvl4pPr>
              <a:defRPr sz="1200" b="0">
                <a:solidFill>
                  <a:srgbClr val="536672"/>
                </a:solidFill>
              </a:defRPr>
            </a:lvl4pPr>
            <a:lvl5pPr>
              <a:defRPr sz="1200" b="0">
                <a:solidFill>
                  <a:srgbClr val="536672"/>
                </a:solidFill>
              </a:defRPr>
            </a:lvl5pPr>
            <a:lvl6pPr>
              <a:defRPr sz="1200" b="0">
                <a:solidFill>
                  <a:srgbClr val="536672"/>
                </a:solidFill>
              </a:defRPr>
            </a:lvl6pPr>
            <a:lvl7pPr>
              <a:defRPr sz="1200" b="0">
                <a:solidFill>
                  <a:srgbClr val="536672"/>
                </a:solidFill>
              </a:defRPr>
            </a:lvl7pPr>
            <a:lvl8pPr>
              <a:defRPr sz="1200" b="0">
                <a:solidFill>
                  <a:srgbClr val="536672"/>
                </a:solidFill>
              </a:defRPr>
            </a:lvl8pPr>
            <a:lvl9pPr>
              <a:defRPr sz="1200" b="0">
                <a:solidFill>
                  <a:srgbClr val="536672"/>
                </a:solidFill>
              </a:defRPr>
            </a:lvl9pPr>
          </a:lstStyle>
          <a:p>
            <a:pPr>
              <a:defRPr sz="1200" b="0">
                <a:solidFill>
                  <a:srgbClr val="536672"/>
                </a:solidFill>
              </a:defRPr>
            </a:pPr>
            <a:r>
              <a:rPr sz="1200" b="0">
                <a:solidFill>
                  <a:srgbClr val="536672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295A77-C6DF-4F70-81DC-5C1CCCD635D5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AS-IS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33D5BB-9C89-4406-B59D-739BF5F98C9B}"/>
              </a:ext>
            </a:extLst>
          </p:cNvPr>
          <p:cNvSpPr>
            <a:spLocks noGrp="1"/>
          </p:cNvSpPr>
          <p:nvPr/>
        </p:nvSpPr>
        <p:spPr>
          <a:xfrm>
            <a:off x="6400800" y="2171700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087E82"/>
                </a:solidFill>
              </a:defRPr>
            </a:defPPr>
            <a:lvl1pPr>
              <a:defRPr sz="1950" b="1">
                <a:solidFill>
                  <a:srgbClr val="087E82"/>
                </a:solidFill>
              </a:defRPr>
            </a:lvl1pPr>
            <a:lvl2pPr>
              <a:defRPr sz="1950" b="1">
                <a:solidFill>
                  <a:srgbClr val="087E82"/>
                </a:solidFill>
              </a:defRPr>
            </a:lvl2pPr>
            <a:lvl3pPr>
              <a:defRPr sz="1950" b="1">
                <a:solidFill>
                  <a:srgbClr val="087E82"/>
                </a:solidFill>
              </a:defRPr>
            </a:lvl3pPr>
            <a:lvl4pPr>
              <a:defRPr sz="1950" b="1">
                <a:solidFill>
                  <a:srgbClr val="087E82"/>
                </a:solidFill>
              </a:defRPr>
            </a:lvl4pPr>
            <a:lvl5pPr>
              <a:defRPr sz="1950" b="1">
                <a:solidFill>
                  <a:srgbClr val="087E82"/>
                </a:solidFill>
              </a:defRPr>
            </a:lvl5pPr>
            <a:lvl6pPr>
              <a:defRPr sz="1950" b="1">
                <a:solidFill>
                  <a:srgbClr val="087E82"/>
                </a:solidFill>
              </a:defRPr>
            </a:lvl6pPr>
            <a:lvl7pPr>
              <a:defRPr sz="1950" b="1">
                <a:solidFill>
                  <a:srgbClr val="087E82"/>
                </a:solidFill>
              </a:defRPr>
            </a:lvl7pPr>
            <a:lvl8pPr>
              <a:defRPr sz="1950" b="1">
                <a:solidFill>
                  <a:srgbClr val="087E82"/>
                </a:solidFill>
              </a:defRPr>
            </a:lvl8pPr>
            <a:lvl9pPr>
              <a:defRPr sz="1950" b="1">
                <a:solidFill>
                  <a:srgbClr val="087E82"/>
                </a:solidFill>
              </a:defRPr>
            </a:lvl9pPr>
          </a:lstStyle>
          <a:p>
            <a:pPr>
              <a:defRPr sz="1950" b="1">
                <a:solidFill>
                  <a:srgbClr val="087E82"/>
                </a:solidFill>
              </a:defRPr>
            </a:pPr>
            <a:r>
              <a:rPr sz="1950" b="1">
                <a:solidFill>
                  <a:srgbClr val="087E82"/>
                </a:solidFill>
              </a:rPr>
              <a:t>TO-BE WITH THEIA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60A179-8702-4E4C-A4D9-EE32725F87B8}"/>
              </a:ext>
            </a:extLst>
          </p:cNvPr>
          <p:cNvSpPr>
            <a:spLocks noGrp="1"/>
          </p:cNvSpPr>
          <p:nvPr/>
        </p:nvSpPr>
        <p:spPr>
          <a:xfrm>
            <a:off x="6019800" y="2200275"/>
            <a:ext cx="19050" cy="3733800"/>
          </a:xfrm>
          <a:prstGeom prst="rect">
            <a:avLst/>
          </a:prstGeom>
          <a:solidFill>
            <a:srgbClr val="D8E4E6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41AC31-57A5-4437-8E47-03D90C491173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1. Maya is going to the library between her classes, and she is taking the usual hallway route that she uses in college.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7BA524-1FF5-47CD-8DB6-7C3179792DC3}"/>
              </a:ext>
            </a:extLst>
          </p:cNvPr>
          <p:cNvSpPr>
            <a:spLocks noGrp="1"/>
          </p:cNvSpPr>
          <p:nvPr/>
        </p:nvSpPr>
        <p:spPr>
          <a:xfrm>
            <a:off x="628650" y="36195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2. The maintenance staff have put a supply cart in the hallway temporarily.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8756E-6277-43CE-8821-A028584E1685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3. Since the supply cart is not usually in that place, Maya is not aware that there is something in front of her.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3D67E3-2823-4885-BCDA-8BB8AFF62D35}"/>
              </a:ext>
            </a:extLst>
          </p:cNvPr>
          <p:cNvSpPr>
            <a:spLocks noGrp="1"/>
          </p:cNvSpPr>
          <p:nvPr/>
        </p:nvSpPr>
        <p:spPr>
          <a:xfrm>
            <a:off x="628650" y="53340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4. She can bump into the supply cart without proper information or wait for someone to guide her.</a:t>
            </a:r>
            <a:endParaRPr sz="1650" b="0">
              <a:solidFill>
                <a:srgbClr val="1D303B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581BE1-AF00-4A7B-A7A3-00A8C21EE662}"/>
              </a:ext>
            </a:extLst>
          </p:cNvPr>
          <p:cNvSpPr>
            <a:spLocks noGrp="1"/>
          </p:cNvSpPr>
          <p:nvPr/>
        </p:nvSpPr>
        <p:spPr>
          <a:xfrm>
            <a:off x="6400800" y="27622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1. </a:t>
            </a:r>
            <a:r>
              <a:rPr lang="en-US"/>
              <a:t>Maya walks into the library, which is her destination, and begins following the verbal instructions provided by THEIA through the building.</a:t>
            </a:r>
            <a:endParaRPr sz="1650" b="0">
              <a:solidFill>
                <a:srgbClr val="1D303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FA6E6F-2FF9-4ACD-AC19-97B80E8E93C0}"/>
              </a:ext>
            </a:extLst>
          </p:cNvPr>
          <p:cNvSpPr>
            <a:spLocks noGrp="1"/>
          </p:cNvSpPr>
          <p:nvPr/>
        </p:nvSpPr>
        <p:spPr>
          <a:xfrm>
            <a:off x="6400800" y="36195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2. </a:t>
            </a:r>
            <a:r>
              <a:rPr lang="en-US"/>
              <a:t>During this process, THEIA senses an obstacle that might be in the way of the path being followed by Maya.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4014D2-A058-4B43-BB45-A5EEE41A2853}"/>
              </a:ext>
            </a:extLst>
          </p:cNvPr>
          <p:cNvSpPr>
            <a:spLocks noGrp="1"/>
          </p:cNvSpPr>
          <p:nvPr/>
        </p:nvSpPr>
        <p:spPr>
          <a:xfrm>
            <a:off x="6400800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3. </a:t>
            </a:r>
            <a:r>
              <a:rPr lang="en-US"/>
              <a:t>The app provides a timely audio or vibration alert for Maya to proceed with caution</a:t>
            </a:r>
            <a:endParaRPr sz="1650" b="0">
              <a:solidFill>
                <a:srgbClr val="1D303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8C26F3-6C6D-4564-B7EF-9D4392623804}"/>
              </a:ext>
            </a:extLst>
          </p:cNvPr>
          <p:cNvSpPr>
            <a:spLocks noGrp="1"/>
          </p:cNvSpPr>
          <p:nvPr/>
        </p:nvSpPr>
        <p:spPr>
          <a:xfrm>
            <a:off x="6400800" y="53340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sz="1650" b="0">
                <a:solidFill>
                  <a:srgbClr val="1D303B"/>
                </a:solidFill>
              </a:rPr>
              <a:t>4. </a:t>
            </a:r>
            <a:r>
              <a:rPr lang="en-US"/>
              <a:t>THEIA assists her in avoiding the blocked area and continues providing guidance once a safe path is found.</a:t>
            </a:r>
            <a:endParaRPr sz="1650" b="0">
              <a:solidFill>
                <a:srgbClr val="1D303B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6C0FC-E151-4E9C-B0A7-82D622469DB6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809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36672"/>
                </a:solidFill>
              </a:defRPr>
            </a:defPPr>
            <a:lvl1pPr>
              <a:defRPr sz="1275" b="0">
                <a:solidFill>
                  <a:srgbClr val="536672"/>
                </a:solidFill>
              </a:defRPr>
            </a:lvl1pPr>
            <a:lvl2pPr>
              <a:defRPr sz="1275" b="0">
                <a:solidFill>
                  <a:srgbClr val="536672"/>
                </a:solidFill>
              </a:defRPr>
            </a:lvl2pPr>
            <a:lvl3pPr>
              <a:defRPr sz="1275" b="0">
                <a:solidFill>
                  <a:srgbClr val="536672"/>
                </a:solidFill>
              </a:defRPr>
            </a:lvl3pPr>
            <a:lvl4pPr>
              <a:defRPr sz="1275" b="0">
                <a:solidFill>
                  <a:srgbClr val="536672"/>
                </a:solidFill>
              </a:defRPr>
            </a:lvl4pPr>
            <a:lvl5pPr>
              <a:defRPr sz="1275" b="0">
                <a:solidFill>
                  <a:srgbClr val="536672"/>
                </a:solidFill>
              </a:defRPr>
            </a:lvl5pPr>
            <a:lvl6pPr>
              <a:defRPr sz="1275" b="0">
                <a:solidFill>
                  <a:srgbClr val="536672"/>
                </a:solidFill>
              </a:defRPr>
            </a:lvl6pPr>
            <a:lvl7pPr>
              <a:defRPr sz="1275" b="0">
                <a:solidFill>
                  <a:srgbClr val="536672"/>
                </a:solidFill>
              </a:defRPr>
            </a:lvl7pPr>
            <a:lvl8pPr>
              <a:defRPr sz="1275" b="0">
                <a:solidFill>
                  <a:srgbClr val="536672"/>
                </a:solidFill>
              </a:defRPr>
            </a:lvl8pPr>
            <a:lvl9pPr>
              <a:defRPr sz="1275" b="0">
                <a:solidFill>
                  <a:srgbClr val="536672"/>
                </a:solidFill>
              </a:defRPr>
            </a:lvl9pPr>
          </a:lstStyle>
          <a:p>
            <a:pPr>
              <a:defRPr sz="1275" b="0">
                <a:solidFill>
                  <a:srgbClr val="536672"/>
                </a:solidFill>
              </a:defRPr>
            </a:pPr>
            <a:r>
              <a:rPr sz="1275" b="0">
                <a:solidFill>
                  <a:srgbClr val="536672"/>
                </a:solidFill>
              </a:rPr>
              <a:t>Primary user: Blind student in a busy hallway</a:t>
            </a:r>
          </a:p>
        </p:txBody>
      </p:sp>
    </p:spTree>
    <p:extLst>
      <p:ext uri="{BB962C8B-B14F-4D97-AF65-F5344CB8AC3E}">
        <p14:creationId xmlns:p14="http://schemas.microsoft.com/office/powerpoint/2010/main" val="120674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A590E31-8274-4886-B568-91D9A33682BD}"/>
              </a:ext>
            </a:extLst>
          </p:cNvPr>
          <p:cNvSpPr>
            <a:spLocks noGrp="1"/>
          </p:cNvSpPr>
          <p:nvPr/>
        </p:nvSpPr>
        <p:spPr>
          <a:xfrm>
            <a:off x="628650" y="276225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 b="1">
                <a:solidFill>
                  <a:srgbClr val="087E82"/>
                </a:solidFill>
              </a:defRPr>
            </a:defPPr>
            <a:lvl1pPr>
              <a:defRPr sz="1125" b="1">
                <a:solidFill>
                  <a:srgbClr val="087E82"/>
                </a:solidFill>
              </a:defRPr>
            </a:lvl1pPr>
            <a:lvl2pPr>
              <a:defRPr sz="1125" b="1">
                <a:solidFill>
                  <a:srgbClr val="087E82"/>
                </a:solidFill>
              </a:defRPr>
            </a:lvl2pPr>
            <a:lvl3pPr>
              <a:defRPr sz="1125" b="1">
                <a:solidFill>
                  <a:srgbClr val="087E82"/>
                </a:solidFill>
              </a:defRPr>
            </a:lvl3pPr>
            <a:lvl4pPr>
              <a:defRPr sz="1125" b="1">
                <a:solidFill>
                  <a:srgbClr val="087E82"/>
                </a:solidFill>
              </a:defRPr>
            </a:lvl4pPr>
            <a:lvl5pPr>
              <a:defRPr sz="1125" b="1">
                <a:solidFill>
                  <a:srgbClr val="087E82"/>
                </a:solidFill>
              </a:defRPr>
            </a:lvl5pPr>
            <a:lvl6pPr>
              <a:defRPr sz="1125" b="1">
                <a:solidFill>
                  <a:srgbClr val="087E82"/>
                </a:solidFill>
              </a:defRPr>
            </a:lvl6pPr>
            <a:lvl7pPr>
              <a:defRPr sz="1125" b="1">
                <a:solidFill>
                  <a:srgbClr val="087E82"/>
                </a:solidFill>
              </a:defRPr>
            </a:lvl7pPr>
            <a:lvl8pPr>
              <a:defRPr sz="1125" b="1">
                <a:solidFill>
                  <a:srgbClr val="087E82"/>
                </a:solidFill>
              </a:defRPr>
            </a:lvl8pPr>
            <a:lvl9pPr>
              <a:defRPr sz="1125" b="1">
                <a:solidFill>
                  <a:srgbClr val="087E82"/>
                </a:solidFill>
              </a:defRPr>
            </a:lvl9pPr>
          </a:lstStyle>
          <a:p>
            <a:pPr>
              <a:defRPr sz="1125" b="1">
                <a:solidFill>
                  <a:srgbClr val="087E82"/>
                </a:solidFill>
              </a:defRPr>
            </a:pPr>
            <a:r>
              <a:rPr sz="1125" b="1">
                <a:solidFill>
                  <a:srgbClr val="087E82"/>
                </a:solidFill>
              </a:rPr>
              <a:t>THEIA  /  PHASE 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4D227C-44C5-4888-B76D-98B9977528ED}"/>
              </a:ext>
            </a:extLst>
          </p:cNvPr>
          <p:cNvSpPr>
            <a:spLocks noGrp="1"/>
          </p:cNvSpPr>
          <p:nvPr/>
        </p:nvSpPr>
        <p:spPr>
          <a:xfrm>
            <a:off x="628650" y="6953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850" b="1">
                <a:solidFill>
                  <a:srgbClr val="152C44"/>
                </a:solidFill>
              </a:defRPr>
            </a:defPPr>
            <a:lvl1pPr>
              <a:defRPr sz="2850" b="1">
                <a:solidFill>
                  <a:srgbClr val="152C44"/>
                </a:solidFill>
              </a:defRPr>
            </a:lvl1pPr>
            <a:lvl2pPr>
              <a:defRPr sz="2850" b="1">
                <a:solidFill>
                  <a:srgbClr val="152C44"/>
                </a:solidFill>
              </a:defRPr>
            </a:lvl2pPr>
            <a:lvl3pPr>
              <a:defRPr sz="2850" b="1">
                <a:solidFill>
                  <a:srgbClr val="152C44"/>
                </a:solidFill>
              </a:defRPr>
            </a:lvl3pPr>
            <a:lvl4pPr>
              <a:defRPr sz="2850" b="1">
                <a:solidFill>
                  <a:srgbClr val="152C44"/>
                </a:solidFill>
              </a:defRPr>
            </a:lvl4pPr>
            <a:lvl5pPr>
              <a:defRPr sz="2850" b="1">
                <a:solidFill>
                  <a:srgbClr val="152C44"/>
                </a:solidFill>
              </a:defRPr>
            </a:lvl5pPr>
            <a:lvl6pPr>
              <a:defRPr sz="2850" b="1">
                <a:solidFill>
                  <a:srgbClr val="152C44"/>
                </a:solidFill>
              </a:defRPr>
            </a:lvl6pPr>
            <a:lvl7pPr>
              <a:defRPr sz="2850" b="1">
                <a:solidFill>
                  <a:srgbClr val="152C44"/>
                </a:solidFill>
              </a:defRPr>
            </a:lvl7pPr>
            <a:lvl8pPr>
              <a:defRPr sz="2850" b="1">
                <a:solidFill>
                  <a:srgbClr val="152C44"/>
                </a:solidFill>
              </a:defRPr>
            </a:lvl8pPr>
            <a:lvl9pPr>
              <a:defRPr sz="2850" b="1">
                <a:solidFill>
                  <a:srgbClr val="152C44"/>
                </a:solidFill>
              </a:defRPr>
            </a:lvl9pPr>
          </a:lstStyle>
          <a:p>
            <a:pPr>
              <a:defRPr sz="2850" b="1">
                <a:solidFill>
                  <a:srgbClr val="152C44"/>
                </a:solidFill>
              </a:defRPr>
            </a:pPr>
            <a:r>
              <a:rPr sz="2850" b="1">
                <a:solidFill>
                  <a:srgbClr val="152C44"/>
                </a:solidFill>
              </a:rPr>
              <a:t>Scenario 3: Choosing a preferred route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3DDC64-40FD-4DA5-8095-1167A7B252FA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906125" cy="19050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778DD3-8F13-4D24-9D9B-95C26534AB79}"/>
              </a:ext>
            </a:extLst>
          </p:cNvPr>
          <p:cNvSpPr>
            <a:spLocks noGrp="1"/>
          </p:cNvSpPr>
          <p:nvPr/>
        </p:nvSpPr>
        <p:spPr>
          <a:xfrm>
            <a:off x="638175" y="1533525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536672"/>
                </a:solidFill>
              </a:defRPr>
            </a:defPPr>
            <a:lvl1pPr>
              <a:defRPr sz="1350" b="0">
                <a:solidFill>
                  <a:srgbClr val="536672"/>
                </a:solidFill>
              </a:defRPr>
            </a:lvl1pPr>
            <a:lvl2pPr>
              <a:defRPr sz="1350" b="0">
                <a:solidFill>
                  <a:srgbClr val="536672"/>
                </a:solidFill>
              </a:defRPr>
            </a:lvl2pPr>
            <a:lvl3pPr>
              <a:defRPr sz="1350" b="0">
                <a:solidFill>
                  <a:srgbClr val="536672"/>
                </a:solidFill>
              </a:defRPr>
            </a:lvl3pPr>
            <a:lvl4pPr>
              <a:defRPr sz="1350" b="0">
                <a:solidFill>
                  <a:srgbClr val="536672"/>
                </a:solidFill>
              </a:defRPr>
            </a:lvl4pPr>
            <a:lvl5pPr>
              <a:defRPr sz="1350" b="0">
                <a:solidFill>
                  <a:srgbClr val="536672"/>
                </a:solidFill>
              </a:defRPr>
            </a:lvl5pPr>
            <a:lvl6pPr>
              <a:defRPr sz="1350" b="0">
                <a:solidFill>
                  <a:srgbClr val="536672"/>
                </a:solidFill>
              </a:defRPr>
            </a:lvl6pPr>
            <a:lvl7pPr>
              <a:defRPr sz="1350" b="0">
                <a:solidFill>
                  <a:srgbClr val="536672"/>
                </a:solidFill>
              </a:defRPr>
            </a:lvl7pPr>
            <a:lvl8pPr>
              <a:defRPr sz="1350" b="0">
                <a:solidFill>
                  <a:srgbClr val="536672"/>
                </a:solidFill>
              </a:defRPr>
            </a:lvl8pPr>
            <a:lvl9pPr>
              <a:defRPr sz="1350" b="0">
                <a:solidFill>
                  <a:srgbClr val="536672"/>
                </a:solidFill>
              </a:defRPr>
            </a:lvl9pPr>
          </a:lstStyle>
          <a:p>
            <a:pPr>
              <a:defRPr sz="1350" b="0">
                <a:solidFill>
                  <a:srgbClr val="536672"/>
                </a:solidFill>
              </a:defRPr>
            </a:pPr>
            <a:r>
              <a:rPr sz="1350" b="0">
                <a:solidFill>
                  <a:srgbClr val="536672"/>
                </a:solidFill>
              </a:rPr>
              <a:t>Feature: Route options and user preference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40D14-111E-4E6C-B7DA-2165CB165AA4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00" b="0">
                <a:solidFill>
                  <a:srgbClr val="536672"/>
                </a:solidFill>
              </a:defRPr>
            </a:defPPr>
            <a:lvl1pPr>
              <a:defRPr sz="1200" b="0">
                <a:solidFill>
                  <a:srgbClr val="536672"/>
                </a:solidFill>
              </a:defRPr>
            </a:lvl1pPr>
            <a:lvl2pPr>
              <a:defRPr sz="1200" b="0">
                <a:solidFill>
                  <a:srgbClr val="536672"/>
                </a:solidFill>
              </a:defRPr>
            </a:lvl2pPr>
            <a:lvl3pPr>
              <a:defRPr sz="1200" b="0">
                <a:solidFill>
                  <a:srgbClr val="536672"/>
                </a:solidFill>
              </a:defRPr>
            </a:lvl3pPr>
            <a:lvl4pPr>
              <a:defRPr sz="1200" b="0">
                <a:solidFill>
                  <a:srgbClr val="536672"/>
                </a:solidFill>
              </a:defRPr>
            </a:lvl4pPr>
            <a:lvl5pPr>
              <a:defRPr sz="1200" b="0">
                <a:solidFill>
                  <a:srgbClr val="536672"/>
                </a:solidFill>
              </a:defRPr>
            </a:lvl5pPr>
            <a:lvl6pPr>
              <a:defRPr sz="1200" b="0">
                <a:solidFill>
                  <a:srgbClr val="536672"/>
                </a:solidFill>
              </a:defRPr>
            </a:lvl6pPr>
            <a:lvl7pPr>
              <a:defRPr sz="1200" b="0">
                <a:solidFill>
                  <a:srgbClr val="536672"/>
                </a:solidFill>
              </a:defRPr>
            </a:lvl7pPr>
            <a:lvl8pPr>
              <a:defRPr sz="1200" b="0">
                <a:solidFill>
                  <a:srgbClr val="536672"/>
                </a:solidFill>
              </a:defRPr>
            </a:lvl8pPr>
            <a:lvl9pPr>
              <a:defRPr sz="1200" b="0">
                <a:solidFill>
                  <a:srgbClr val="536672"/>
                </a:solidFill>
              </a:defRPr>
            </a:lvl9pPr>
          </a:lstStyle>
          <a:p>
            <a:pPr>
              <a:defRPr sz="1200" b="0">
                <a:solidFill>
                  <a:srgbClr val="536672"/>
                </a:solidFill>
              </a:defRPr>
            </a:pPr>
            <a:r>
              <a:rPr sz="1200" b="0">
                <a:solidFill>
                  <a:srgbClr val="536672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4A2461-A3C7-4E56-BC50-3DC15BFF96D9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AS-IS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66FB89-E0C6-49AB-A457-D8F00FE6390D}"/>
              </a:ext>
            </a:extLst>
          </p:cNvPr>
          <p:cNvSpPr>
            <a:spLocks noGrp="1"/>
          </p:cNvSpPr>
          <p:nvPr/>
        </p:nvSpPr>
        <p:spPr>
          <a:xfrm>
            <a:off x="6400800" y="2171700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087E82"/>
                </a:solidFill>
              </a:defRPr>
            </a:defPPr>
            <a:lvl1pPr>
              <a:defRPr sz="1950" b="1">
                <a:solidFill>
                  <a:srgbClr val="087E82"/>
                </a:solidFill>
              </a:defRPr>
            </a:lvl1pPr>
            <a:lvl2pPr>
              <a:defRPr sz="1950" b="1">
                <a:solidFill>
                  <a:srgbClr val="087E82"/>
                </a:solidFill>
              </a:defRPr>
            </a:lvl2pPr>
            <a:lvl3pPr>
              <a:defRPr sz="1950" b="1">
                <a:solidFill>
                  <a:srgbClr val="087E82"/>
                </a:solidFill>
              </a:defRPr>
            </a:lvl3pPr>
            <a:lvl4pPr>
              <a:defRPr sz="1950" b="1">
                <a:solidFill>
                  <a:srgbClr val="087E82"/>
                </a:solidFill>
              </a:defRPr>
            </a:lvl4pPr>
            <a:lvl5pPr>
              <a:defRPr sz="1950" b="1">
                <a:solidFill>
                  <a:srgbClr val="087E82"/>
                </a:solidFill>
              </a:defRPr>
            </a:lvl5pPr>
            <a:lvl6pPr>
              <a:defRPr sz="1950" b="1">
                <a:solidFill>
                  <a:srgbClr val="087E82"/>
                </a:solidFill>
              </a:defRPr>
            </a:lvl6pPr>
            <a:lvl7pPr>
              <a:defRPr sz="1950" b="1">
                <a:solidFill>
                  <a:srgbClr val="087E82"/>
                </a:solidFill>
              </a:defRPr>
            </a:lvl7pPr>
            <a:lvl8pPr>
              <a:defRPr sz="1950" b="1">
                <a:solidFill>
                  <a:srgbClr val="087E82"/>
                </a:solidFill>
              </a:defRPr>
            </a:lvl8pPr>
            <a:lvl9pPr>
              <a:defRPr sz="1950" b="1">
                <a:solidFill>
                  <a:srgbClr val="087E82"/>
                </a:solidFill>
              </a:defRPr>
            </a:lvl9pPr>
          </a:lstStyle>
          <a:p>
            <a:pPr>
              <a:defRPr sz="1950" b="1">
                <a:solidFill>
                  <a:srgbClr val="087E82"/>
                </a:solidFill>
              </a:defRPr>
            </a:pPr>
            <a:r>
              <a:rPr sz="1950" b="1">
                <a:solidFill>
                  <a:srgbClr val="087E82"/>
                </a:solidFill>
              </a:rPr>
              <a:t>TO-BE WITH THEIA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15DCD9-FEC9-4E8C-94E9-4B82F44D9A7C}"/>
              </a:ext>
            </a:extLst>
          </p:cNvPr>
          <p:cNvSpPr>
            <a:spLocks noGrp="1"/>
          </p:cNvSpPr>
          <p:nvPr/>
        </p:nvSpPr>
        <p:spPr>
          <a:xfrm>
            <a:off x="6019800" y="2200275"/>
            <a:ext cx="19050" cy="3733800"/>
          </a:xfrm>
          <a:prstGeom prst="rect">
            <a:avLst/>
          </a:prstGeom>
          <a:solidFill>
            <a:srgbClr val="D8E4E6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15E8E-0ABB-4A7F-9D29-5E3C9DF7D341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1. Alex visits a building on a campus for the first time to go to an office on a different floor.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56365-27CE-40C7-A123-E738C4609748}"/>
              </a:ext>
            </a:extLst>
          </p:cNvPr>
          <p:cNvSpPr>
            <a:spLocks noGrp="1"/>
          </p:cNvSpPr>
          <p:nvPr/>
        </p:nvSpPr>
        <p:spPr>
          <a:xfrm>
            <a:off x="628650" y="36195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2. As he is unaware about the building layout, he does not know where to go and which floor/connections to use.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14F48-C4B3-46D9-92B6-E8E8D68B65A3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3. Although he would prefer to go via an elevator, he is not able to compare these two routes himself.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9026D7-BB7B-44E5-8FCA-35E1669AFE53}"/>
              </a:ext>
            </a:extLst>
          </p:cNvPr>
          <p:cNvSpPr>
            <a:spLocks noGrp="1"/>
          </p:cNvSpPr>
          <p:nvPr/>
        </p:nvSpPr>
        <p:spPr>
          <a:xfrm>
            <a:off x="628650" y="53340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4. Alex asks a staff member for assistance, and he might be given directions that do not correspond to his preferences.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BD5DB-AB9D-472A-90DF-9038F08D62A1}"/>
              </a:ext>
            </a:extLst>
          </p:cNvPr>
          <p:cNvSpPr>
            <a:spLocks noGrp="1"/>
          </p:cNvSpPr>
          <p:nvPr/>
        </p:nvSpPr>
        <p:spPr>
          <a:xfrm>
            <a:off x="6400800" y="27622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1. Alex activates THEIA application and gives a voice command with the office he wants to visit.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BDBCED-24E0-4B0F-99AE-15A312E4D684}"/>
              </a:ext>
            </a:extLst>
          </p:cNvPr>
          <p:cNvSpPr>
            <a:spLocks noGrp="1"/>
          </p:cNvSpPr>
          <p:nvPr/>
        </p:nvSpPr>
        <p:spPr>
          <a:xfrm>
            <a:off x="6400800" y="36195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2. THEIA detects the possible indoor routes and informs Alex about the options, including routes with an elevator.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74BCF2-6AEC-4E47-A01E-BC7B75925973}"/>
              </a:ext>
            </a:extLst>
          </p:cNvPr>
          <p:cNvSpPr>
            <a:spLocks noGrp="1"/>
          </p:cNvSpPr>
          <p:nvPr/>
        </p:nvSpPr>
        <p:spPr>
          <a:xfrm>
            <a:off x="6400800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3. Alex chooses the route with an elevator, as he feels more comfortable with this route.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2C978A-2D3F-4FB4-89AB-7BC683320A54}"/>
              </a:ext>
            </a:extLst>
          </p:cNvPr>
          <p:cNvSpPr>
            <a:spLocks noGrp="1"/>
          </p:cNvSpPr>
          <p:nvPr/>
        </p:nvSpPr>
        <p:spPr>
          <a:xfrm>
            <a:off x="6400800" y="53340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4. After that, the app provides Alex with the step-by-step voice directions to get to the office.</a:t>
            </a:r>
            <a:endParaRPr sz="1650" b="0">
              <a:solidFill>
                <a:srgbClr val="1D303B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4A4ED3-D655-4E33-A62B-6334FD02B62C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809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36672"/>
                </a:solidFill>
              </a:defRPr>
            </a:defPPr>
            <a:lvl1pPr>
              <a:defRPr sz="1275" b="0">
                <a:solidFill>
                  <a:srgbClr val="536672"/>
                </a:solidFill>
              </a:defRPr>
            </a:lvl1pPr>
            <a:lvl2pPr>
              <a:defRPr sz="1275" b="0">
                <a:solidFill>
                  <a:srgbClr val="536672"/>
                </a:solidFill>
              </a:defRPr>
            </a:lvl2pPr>
            <a:lvl3pPr>
              <a:defRPr sz="1275" b="0">
                <a:solidFill>
                  <a:srgbClr val="536672"/>
                </a:solidFill>
              </a:defRPr>
            </a:lvl3pPr>
            <a:lvl4pPr>
              <a:defRPr sz="1275" b="0">
                <a:solidFill>
                  <a:srgbClr val="536672"/>
                </a:solidFill>
              </a:defRPr>
            </a:lvl4pPr>
            <a:lvl5pPr>
              <a:defRPr sz="1275" b="0">
                <a:solidFill>
                  <a:srgbClr val="536672"/>
                </a:solidFill>
              </a:defRPr>
            </a:lvl5pPr>
            <a:lvl6pPr>
              <a:defRPr sz="1275" b="0">
                <a:solidFill>
                  <a:srgbClr val="536672"/>
                </a:solidFill>
              </a:defRPr>
            </a:lvl6pPr>
            <a:lvl7pPr>
              <a:defRPr sz="1275" b="0">
                <a:solidFill>
                  <a:srgbClr val="536672"/>
                </a:solidFill>
              </a:defRPr>
            </a:lvl7pPr>
            <a:lvl8pPr>
              <a:defRPr sz="1275" b="0">
                <a:solidFill>
                  <a:srgbClr val="536672"/>
                </a:solidFill>
              </a:defRPr>
            </a:lvl8pPr>
            <a:lvl9pPr>
              <a:defRPr sz="1275" b="0">
                <a:solidFill>
                  <a:srgbClr val="536672"/>
                </a:solidFill>
              </a:defRPr>
            </a:lvl9pPr>
          </a:lstStyle>
          <a:p>
            <a:pPr>
              <a:defRPr sz="1275" b="0">
                <a:solidFill>
                  <a:srgbClr val="536672"/>
                </a:solidFill>
              </a:defRPr>
            </a:pPr>
            <a:r>
              <a:rPr sz="1275" b="0">
                <a:solidFill>
                  <a:srgbClr val="536672"/>
                </a:solidFill>
              </a:rPr>
              <a:t>Primary user: Blind visitor with a route preference</a:t>
            </a:r>
          </a:p>
        </p:txBody>
      </p:sp>
    </p:spTree>
    <p:extLst>
      <p:ext uri="{BB962C8B-B14F-4D97-AF65-F5344CB8AC3E}">
        <p14:creationId xmlns:p14="http://schemas.microsoft.com/office/powerpoint/2010/main" val="182992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15D9BF1-76B8-4AA9-A246-C36E12E68F62}"/>
              </a:ext>
            </a:extLst>
          </p:cNvPr>
          <p:cNvSpPr>
            <a:spLocks noGrp="1"/>
          </p:cNvSpPr>
          <p:nvPr/>
        </p:nvSpPr>
        <p:spPr>
          <a:xfrm>
            <a:off x="628650" y="276225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 b="1">
                <a:solidFill>
                  <a:srgbClr val="087E82"/>
                </a:solidFill>
              </a:defRPr>
            </a:defPPr>
            <a:lvl1pPr>
              <a:defRPr sz="1125" b="1">
                <a:solidFill>
                  <a:srgbClr val="087E82"/>
                </a:solidFill>
              </a:defRPr>
            </a:lvl1pPr>
            <a:lvl2pPr>
              <a:defRPr sz="1125" b="1">
                <a:solidFill>
                  <a:srgbClr val="087E82"/>
                </a:solidFill>
              </a:defRPr>
            </a:lvl2pPr>
            <a:lvl3pPr>
              <a:defRPr sz="1125" b="1">
                <a:solidFill>
                  <a:srgbClr val="087E82"/>
                </a:solidFill>
              </a:defRPr>
            </a:lvl3pPr>
            <a:lvl4pPr>
              <a:defRPr sz="1125" b="1">
                <a:solidFill>
                  <a:srgbClr val="087E82"/>
                </a:solidFill>
              </a:defRPr>
            </a:lvl4pPr>
            <a:lvl5pPr>
              <a:defRPr sz="1125" b="1">
                <a:solidFill>
                  <a:srgbClr val="087E82"/>
                </a:solidFill>
              </a:defRPr>
            </a:lvl5pPr>
            <a:lvl6pPr>
              <a:defRPr sz="1125" b="1">
                <a:solidFill>
                  <a:srgbClr val="087E82"/>
                </a:solidFill>
              </a:defRPr>
            </a:lvl6pPr>
            <a:lvl7pPr>
              <a:defRPr sz="1125" b="1">
                <a:solidFill>
                  <a:srgbClr val="087E82"/>
                </a:solidFill>
              </a:defRPr>
            </a:lvl7pPr>
            <a:lvl8pPr>
              <a:defRPr sz="1125" b="1">
                <a:solidFill>
                  <a:srgbClr val="087E82"/>
                </a:solidFill>
              </a:defRPr>
            </a:lvl8pPr>
            <a:lvl9pPr>
              <a:defRPr sz="1125" b="1">
                <a:solidFill>
                  <a:srgbClr val="087E82"/>
                </a:solidFill>
              </a:defRPr>
            </a:lvl9pPr>
          </a:lstStyle>
          <a:p>
            <a:pPr>
              <a:defRPr sz="1125" b="1">
                <a:solidFill>
                  <a:srgbClr val="087E82"/>
                </a:solidFill>
              </a:defRPr>
            </a:pPr>
            <a:r>
              <a:rPr sz="1125" b="1">
                <a:solidFill>
                  <a:srgbClr val="087E82"/>
                </a:solidFill>
              </a:rPr>
              <a:t>THEIA  /  PHASE 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36BA5E-118F-4E9C-A9D7-8D5E27F512DA}"/>
              </a:ext>
            </a:extLst>
          </p:cNvPr>
          <p:cNvSpPr>
            <a:spLocks noGrp="1"/>
          </p:cNvSpPr>
          <p:nvPr/>
        </p:nvSpPr>
        <p:spPr>
          <a:xfrm>
            <a:off x="628650" y="6953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850" b="1">
                <a:solidFill>
                  <a:srgbClr val="152C44"/>
                </a:solidFill>
              </a:defRPr>
            </a:defPPr>
            <a:lvl1pPr>
              <a:defRPr sz="2850" b="1">
                <a:solidFill>
                  <a:srgbClr val="152C44"/>
                </a:solidFill>
              </a:defRPr>
            </a:lvl1pPr>
            <a:lvl2pPr>
              <a:defRPr sz="2850" b="1">
                <a:solidFill>
                  <a:srgbClr val="152C44"/>
                </a:solidFill>
              </a:defRPr>
            </a:lvl2pPr>
            <a:lvl3pPr>
              <a:defRPr sz="2850" b="1">
                <a:solidFill>
                  <a:srgbClr val="152C44"/>
                </a:solidFill>
              </a:defRPr>
            </a:lvl3pPr>
            <a:lvl4pPr>
              <a:defRPr sz="2850" b="1">
                <a:solidFill>
                  <a:srgbClr val="152C44"/>
                </a:solidFill>
              </a:defRPr>
            </a:lvl4pPr>
            <a:lvl5pPr>
              <a:defRPr sz="2850" b="1">
                <a:solidFill>
                  <a:srgbClr val="152C44"/>
                </a:solidFill>
              </a:defRPr>
            </a:lvl5pPr>
            <a:lvl6pPr>
              <a:defRPr sz="2850" b="1">
                <a:solidFill>
                  <a:srgbClr val="152C44"/>
                </a:solidFill>
              </a:defRPr>
            </a:lvl6pPr>
            <a:lvl7pPr>
              <a:defRPr sz="2850" b="1">
                <a:solidFill>
                  <a:srgbClr val="152C44"/>
                </a:solidFill>
              </a:defRPr>
            </a:lvl7pPr>
            <a:lvl8pPr>
              <a:defRPr sz="2850" b="1">
                <a:solidFill>
                  <a:srgbClr val="152C44"/>
                </a:solidFill>
              </a:defRPr>
            </a:lvl8pPr>
            <a:lvl9pPr>
              <a:defRPr sz="2850" b="1">
                <a:solidFill>
                  <a:srgbClr val="152C44"/>
                </a:solidFill>
              </a:defRPr>
            </a:lvl9pPr>
          </a:lstStyle>
          <a:p>
            <a:pPr>
              <a:defRPr sz="2850" b="1">
                <a:solidFill>
                  <a:srgbClr val="152C44"/>
                </a:solidFill>
              </a:defRPr>
            </a:pPr>
            <a:r>
              <a:rPr sz="2850" b="1">
                <a:solidFill>
                  <a:srgbClr val="152C44"/>
                </a:solidFill>
              </a:rPr>
              <a:t>Scenario 4: Emergency assistance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66DB5-A083-4149-AC37-F9376AF62AD8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906125" cy="19050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0EC608-1848-4684-9BA6-EB6B1993C4DC}"/>
              </a:ext>
            </a:extLst>
          </p:cNvPr>
          <p:cNvSpPr>
            <a:spLocks noGrp="1"/>
          </p:cNvSpPr>
          <p:nvPr/>
        </p:nvSpPr>
        <p:spPr>
          <a:xfrm>
            <a:off x="638175" y="1533525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536672"/>
                </a:solidFill>
              </a:defRPr>
            </a:defPPr>
            <a:lvl1pPr>
              <a:defRPr sz="1350" b="0">
                <a:solidFill>
                  <a:srgbClr val="536672"/>
                </a:solidFill>
              </a:defRPr>
            </a:lvl1pPr>
            <a:lvl2pPr>
              <a:defRPr sz="1350" b="0">
                <a:solidFill>
                  <a:srgbClr val="536672"/>
                </a:solidFill>
              </a:defRPr>
            </a:lvl2pPr>
            <a:lvl3pPr>
              <a:defRPr sz="1350" b="0">
                <a:solidFill>
                  <a:srgbClr val="536672"/>
                </a:solidFill>
              </a:defRPr>
            </a:lvl3pPr>
            <a:lvl4pPr>
              <a:defRPr sz="1350" b="0">
                <a:solidFill>
                  <a:srgbClr val="536672"/>
                </a:solidFill>
              </a:defRPr>
            </a:lvl4pPr>
            <a:lvl5pPr>
              <a:defRPr sz="1350" b="0">
                <a:solidFill>
                  <a:srgbClr val="536672"/>
                </a:solidFill>
              </a:defRPr>
            </a:lvl5pPr>
            <a:lvl6pPr>
              <a:defRPr sz="1350" b="0">
                <a:solidFill>
                  <a:srgbClr val="536672"/>
                </a:solidFill>
              </a:defRPr>
            </a:lvl6pPr>
            <a:lvl7pPr>
              <a:defRPr sz="1350" b="0">
                <a:solidFill>
                  <a:srgbClr val="536672"/>
                </a:solidFill>
              </a:defRPr>
            </a:lvl7pPr>
            <a:lvl8pPr>
              <a:defRPr sz="1350" b="0">
                <a:solidFill>
                  <a:srgbClr val="536672"/>
                </a:solidFill>
              </a:defRPr>
            </a:lvl8pPr>
            <a:lvl9pPr>
              <a:defRPr sz="1350" b="0">
                <a:solidFill>
                  <a:srgbClr val="536672"/>
                </a:solidFill>
              </a:defRPr>
            </a:lvl9pPr>
          </a:lstStyle>
          <a:p>
            <a:pPr>
              <a:defRPr sz="1350" b="0">
                <a:solidFill>
                  <a:srgbClr val="536672"/>
                </a:solidFill>
              </a:defRPr>
            </a:pPr>
            <a:r>
              <a:rPr sz="1350" b="0">
                <a:solidFill>
                  <a:srgbClr val="536672"/>
                </a:solidFill>
              </a:rPr>
              <a:t>Feature: Location-loss or fall response and caregiver contact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9E0A29-CDEF-466F-A01E-F0D8E6C84FE2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00" b="0">
                <a:solidFill>
                  <a:srgbClr val="536672"/>
                </a:solidFill>
              </a:defRPr>
            </a:defPPr>
            <a:lvl1pPr>
              <a:defRPr sz="1200" b="0">
                <a:solidFill>
                  <a:srgbClr val="536672"/>
                </a:solidFill>
              </a:defRPr>
            </a:lvl1pPr>
            <a:lvl2pPr>
              <a:defRPr sz="1200" b="0">
                <a:solidFill>
                  <a:srgbClr val="536672"/>
                </a:solidFill>
              </a:defRPr>
            </a:lvl2pPr>
            <a:lvl3pPr>
              <a:defRPr sz="1200" b="0">
                <a:solidFill>
                  <a:srgbClr val="536672"/>
                </a:solidFill>
              </a:defRPr>
            </a:lvl3pPr>
            <a:lvl4pPr>
              <a:defRPr sz="1200" b="0">
                <a:solidFill>
                  <a:srgbClr val="536672"/>
                </a:solidFill>
              </a:defRPr>
            </a:lvl4pPr>
            <a:lvl5pPr>
              <a:defRPr sz="1200" b="0">
                <a:solidFill>
                  <a:srgbClr val="536672"/>
                </a:solidFill>
              </a:defRPr>
            </a:lvl5pPr>
            <a:lvl6pPr>
              <a:defRPr sz="1200" b="0">
                <a:solidFill>
                  <a:srgbClr val="536672"/>
                </a:solidFill>
              </a:defRPr>
            </a:lvl6pPr>
            <a:lvl7pPr>
              <a:defRPr sz="1200" b="0">
                <a:solidFill>
                  <a:srgbClr val="536672"/>
                </a:solidFill>
              </a:defRPr>
            </a:lvl7pPr>
            <a:lvl8pPr>
              <a:defRPr sz="1200" b="0">
                <a:solidFill>
                  <a:srgbClr val="536672"/>
                </a:solidFill>
              </a:defRPr>
            </a:lvl8pPr>
            <a:lvl9pPr>
              <a:defRPr sz="1200" b="0">
                <a:solidFill>
                  <a:srgbClr val="536672"/>
                </a:solidFill>
              </a:defRPr>
            </a:lvl9pPr>
          </a:lstStyle>
          <a:p>
            <a:pPr>
              <a:defRPr sz="1200" b="0">
                <a:solidFill>
                  <a:srgbClr val="536672"/>
                </a:solidFill>
              </a:defRPr>
            </a:pPr>
            <a:r>
              <a:rPr sz="1200" b="0">
                <a:solidFill>
                  <a:srgbClr val="536672"/>
                </a:solidFill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B983C1-02ED-42B5-A068-5F9C3672CFB1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AS-IS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9C5D1-3B47-4364-933A-BD87E307B202}"/>
              </a:ext>
            </a:extLst>
          </p:cNvPr>
          <p:cNvSpPr>
            <a:spLocks noGrp="1"/>
          </p:cNvSpPr>
          <p:nvPr/>
        </p:nvSpPr>
        <p:spPr>
          <a:xfrm>
            <a:off x="6400800" y="2171700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087E82"/>
                </a:solidFill>
              </a:defRPr>
            </a:defPPr>
            <a:lvl1pPr>
              <a:defRPr sz="1950" b="1">
                <a:solidFill>
                  <a:srgbClr val="087E82"/>
                </a:solidFill>
              </a:defRPr>
            </a:lvl1pPr>
            <a:lvl2pPr>
              <a:defRPr sz="1950" b="1">
                <a:solidFill>
                  <a:srgbClr val="087E82"/>
                </a:solidFill>
              </a:defRPr>
            </a:lvl2pPr>
            <a:lvl3pPr>
              <a:defRPr sz="1950" b="1">
                <a:solidFill>
                  <a:srgbClr val="087E82"/>
                </a:solidFill>
              </a:defRPr>
            </a:lvl3pPr>
            <a:lvl4pPr>
              <a:defRPr sz="1950" b="1">
                <a:solidFill>
                  <a:srgbClr val="087E82"/>
                </a:solidFill>
              </a:defRPr>
            </a:lvl4pPr>
            <a:lvl5pPr>
              <a:defRPr sz="1950" b="1">
                <a:solidFill>
                  <a:srgbClr val="087E82"/>
                </a:solidFill>
              </a:defRPr>
            </a:lvl5pPr>
            <a:lvl6pPr>
              <a:defRPr sz="1950" b="1">
                <a:solidFill>
                  <a:srgbClr val="087E82"/>
                </a:solidFill>
              </a:defRPr>
            </a:lvl6pPr>
            <a:lvl7pPr>
              <a:defRPr sz="1950" b="1">
                <a:solidFill>
                  <a:srgbClr val="087E82"/>
                </a:solidFill>
              </a:defRPr>
            </a:lvl7pPr>
            <a:lvl8pPr>
              <a:defRPr sz="1950" b="1">
                <a:solidFill>
                  <a:srgbClr val="087E82"/>
                </a:solidFill>
              </a:defRPr>
            </a:lvl8pPr>
            <a:lvl9pPr>
              <a:defRPr sz="1950" b="1">
                <a:solidFill>
                  <a:srgbClr val="087E82"/>
                </a:solidFill>
              </a:defRPr>
            </a:lvl9pPr>
          </a:lstStyle>
          <a:p>
            <a:pPr>
              <a:defRPr sz="1950" b="1">
                <a:solidFill>
                  <a:srgbClr val="087E82"/>
                </a:solidFill>
              </a:defRPr>
            </a:pPr>
            <a:r>
              <a:rPr sz="1950" b="1">
                <a:solidFill>
                  <a:srgbClr val="087E82"/>
                </a:solidFill>
              </a:rPr>
              <a:t>TO-BE WITH THEIA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325385-B601-464F-B9EC-9765768091CC}"/>
              </a:ext>
            </a:extLst>
          </p:cNvPr>
          <p:cNvSpPr>
            <a:spLocks noGrp="1"/>
          </p:cNvSpPr>
          <p:nvPr/>
        </p:nvSpPr>
        <p:spPr>
          <a:xfrm>
            <a:off x="6019800" y="2200275"/>
            <a:ext cx="19050" cy="3733800"/>
          </a:xfrm>
          <a:prstGeom prst="rect">
            <a:avLst/>
          </a:prstGeom>
          <a:solidFill>
            <a:srgbClr val="D8E4E6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55F4F-BFE6-40FB-B6F3-605F064D915D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1. Jordan is navigating around an unfamiliar area within a building and loses track of the hallway in which he is.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265FE4-E54B-4962-97A0-B887286AE510}"/>
              </a:ext>
            </a:extLst>
          </p:cNvPr>
          <p:cNvSpPr>
            <a:spLocks noGrp="1"/>
          </p:cNvSpPr>
          <p:nvPr/>
        </p:nvSpPr>
        <p:spPr>
          <a:xfrm>
            <a:off x="628650" y="38100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2. He tries to find his way back, but still cannot determine his location or describe it accurately.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B0DE5B-523A-4AA6-ABCB-049FDA7CE7D9}"/>
              </a:ext>
            </a:extLst>
          </p:cNvPr>
          <p:cNvSpPr>
            <a:spLocks noGrp="1"/>
          </p:cNvSpPr>
          <p:nvPr/>
        </p:nvSpPr>
        <p:spPr>
          <a:xfrm>
            <a:off x="628650" y="4857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3. Jordan contacts one of his family members to help him, but the person cannot locate him due to the lack of a precise location.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C890BB-B368-4041-8F76-B18E76B68CA3}"/>
              </a:ext>
            </a:extLst>
          </p:cNvPr>
          <p:cNvSpPr>
            <a:spLocks noGrp="1"/>
          </p:cNvSpPr>
          <p:nvPr/>
        </p:nvSpPr>
        <p:spPr>
          <a:xfrm>
            <a:off x="6400800" y="27622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1. THEIA detects that it is unable to determine Jordan’s location reliably enough to be able to guide him.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84D97D-226C-4548-8BB6-71BB423616E8}"/>
              </a:ext>
            </a:extLst>
          </p:cNvPr>
          <p:cNvSpPr>
            <a:spLocks noGrp="1"/>
          </p:cNvSpPr>
          <p:nvPr/>
        </p:nvSpPr>
        <p:spPr>
          <a:xfrm>
            <a:off x="6400800" y="36195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2. The app informs Jordan about the situation and provides him with an option to contact someone for help.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4088FC-6F8A-4427-A36C-5C75B7FF56F0}"/>
              </a:ext>
            </a:extLst>
          </p:cNvPr>
          <p:cNvSpPr>
            <a:spLocks noGrp="1"/>
          </p:cNvSpPr>
          <p:nvPr/>
        </p:nvSpPr>
        <p:spPr>
          <a:xfrm>
            <a:off x="6400800" y="447675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3. If the user has enabled the feature and granted the necessary permissions, THEIA contacts Jordan’s designated caregiver.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39E953-1203-4FDD-9300-C75EE074B0CE}"/>
              </a:ext>
            </a:extLst>
          </p:cNvPr>
          <p:cNvSpPr>
            <a:spLocks noGrp="1"/>
          </p:cNvSpPr>
          <p:nvPr/>
        </p:nvSpPr>
        <p:spPr>
          <a:xfrm>
            <a:off x="6400800" y="5334000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650" b="0">
                <a:solidFill>
                  <a:srgbClr val="1D303B"/>
                </a:solidFill>
              </a:defRPr>
            </a:defPPr>
            <a:lvl1pPr>
              <a:defRPr sz="1650" b="0">
                <a:solidFill>
                  <a:srgbClr val="1D303B"/>
                </a:solidFill>
              </a:defRPr>
            </a:lvl1pPr>
            <a:lvl2pPr>
              <a:defRPr sz="1650" b="0">
                <a:solidFill>
                  <a:srgbClr val="1D303B"/>
                </a:solidFill>
              </a:defRPr>
            </a:lvl2pPr>
            <a:lvl3pPr>
              <a:defRPr sz="1650" b="0">
                <a:solidFill>
                  <a:srgbClr val="1D303B"/>
                </a:solidFill>
              </a:defRPr>
            </a:lvl3pPr>
            <a:lvl4pPr>
              <a:defRPr sz="1650" b="0">
                <a:solidFill>
                  <a:srgbClr val="1D303B"/>
                </a:solidFill>
              </a:defRPr>
            </a:lvl4pPr>
            <a:lvl5pPr>
              <a:defRPr sz="1650" b="0">
                <a:solidFill>
                  <a:srgbClr val="1D303B"/>
                </a:solidFill>
              </a:defRPr>
            </a:lvl5pPr>
            <a:lvl6pPr>
              <a:defRPr sz="1650" b="0">
                <a:solidFill>
                  <a:srgbClr val="1D303B"/>
                </a:solidFill>
              </a:defRPr>
            </a:lvl6pPr>
            <a:lvl7pPr>
              <a:defRPr sz="1650" b="0">
                <a:solidFill>
                  <a:srgbClr val="1D303B"/>
                </a:solidFill>
              </a:defRPr>
            </a:lvl7pPr>
            <a:lvl8pPr>
              <a:defRPr sz="1650" b="0">
                <a:solidFill>
                  <a:srgbClr val="1D303B"/>
                </a:solidFill>
              </a:defRPr>
            </a:lvl8pPr>
            <a:lvl9pPr>
              <a:defRPr sz="1650" b="0">
                <a:solidFill>
                  <a:srgbClr val="1D303B"/>
                </a:solidFill>
              </a:defRPr>
            </a:lvl9pPr>
          </a:lstStyle>
          <a:p>
            <a:pPr>
              <a:defRPr sz="1650" b="0">
                <a:solidFill>
                  <a:srgbClr val="1D303B"/>
                </a:solidFill>
              </a:defRPr>
            </a:pPr>
            <a:r>
              <a:rPr lang="en-US"/>
              <a:t>4. The message includes Jordan’s last reliable location and informs about the possibility of being in a different location now.</a:t>
            </a:r>
            <a:endParaRPr sz="1650" b="0">
              <a:solidFill>
                <a:srgbClr val="1D303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1E1DB8-6B03-4D64-B329-CF07FB87712D}"/>
              </a:ext>
            </a:extLst>
          </p:cNvPr>
          <p:cNvSpPr>
            <a:spLocks noGrp="1"/>
          </p:cNvSpPr>
          <p:nvPr/>
        </p:nvSpPr>
        <p:spPr>
          <a:xfrm>
            <a:off x="628650" y="6191250"/>
            <a:ext cx="809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75" b="0">
                <a:solidFill>
                  <a:srgbClr val="536672"/>
                </a:solidFill>
              </a:defRPr>
            </a:defPPr>
            <a:lvl1pPr>
              <a:defRPr sz="1275" b="0">
                <a:solidFill>
                  <a:srgbClr val="536672"/>
                </a:solidFill>
              </a:defRPr>
            </a:lvl1pPr>
            <a:lvl2pPr>
              <a:defRPr sz="1275" b="0">
                <a:solidFill>
                  <a:srgbClr val="536672"/>
                </a:solidFill>
              </a:defRPr>
            </a:lvl2pPr>
            <a:lvl3pPr>
              <a:defRPr sz="1275" b="0">
                <a:solidFill>
                  <a:srgbClr val="536672"/>
                </a:solidFill>
              </a:defRPr>
            </a:lvl3pPr>
            <a:lvl4pPr>
              <a:defRPr sz="1275" b="0">
                <a:solidFill>
                  <a:srgbClr val="536672"/>
                </a:solidFill>
              </a:defRPr>
            </a:lvl4pPr>
            <a:lvl5pPr>
              <a:defRPr sz="1275" b="0">
                <a:solidFill>
                  <a:srgbClr val="536672"/>
                </a:solidFill>
              </a:defRPr>
            </a:lvl5pPr>
            <a:lvl6pPr>
              <a:defRPr sz="1275" b="0">
                <a:solidFill>
                  <a:srgbClr val="536672"/>
                </a:solidFill>
              </a:defRPr>
            </a:lvl6pPr>
            <a:lvl7pPr>
              <a:defRPr sz="1275" b="0">
                <a:solidFill>
                  <a:srgbClr val="536672"/>
                </a:solidFill>
              </a:defRPr>
            </a:lvl7pPr>
            <a:lvl8pPr>
              <a:defRPr sz="1275" b="0">
                <a:solidFill>
                  <a:srgbClr val="536672"/>
                </a:solidFill>
              </a:defRPr>
            </a:lvl8pPr>
            <a:lvl9pPr>
              <a:defRPr sz="1275" b="0">
                <a:solidFill>
                  <a:srgbClr val="536672"/>
                </a:solidFill>
              </a:defRPr>
            </a:lvl9pPr>
          </a:lstStyle>
          <a:p>
            <a:pPr>
              <a:defRPr sz="1275" b="0">
                <a:solidFill>
                  <a:srgbClr val="536672"/>
                </a:solidFill>
              </a:defRPr>
            </a:pPr>
            <a:r>
              <a:rPr sz="1275" b="0">
                <a:solidFill>
                  <a:srgbClr val="536672"/>
                </a:solidFill>
              </a:rPr>
              <a:t>Primary user: Blind user and designated caregiver</a:t>
            </a:r>
          </a:p>
        </p:txBody>
      </p:sp>
    </p:spTree>
    <p:extLst>
      <p:ext uri="{BB962C8B-B14F-4D97-AF65-F5344CB8AC3E}">
        <p14:creationId xmlns:p14="http://schemas.microsoft.com/office/powerpoint/2010/main" val="2005087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80FBEAD-A311-4178-869B-C258F034A8CB}"/>
              </a:ext>
            </a:extLst>
          </p:cNvPr>
          <p:cNvSpPr>
            <a:spLocks noGrp="1"/>
          </p:cNvSpPr>
          <p:nvPr/>
        </p:nvSpPr>
        <p:spPr>
          <a:xfrm>
            <a:off x="628650" y="276225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 b="1">
                <a:solidFill>
                  <a:srgbClr val="087E82"/>
                </a:solidFill>
              </a:defRPr>
            </a:defPPr>
            <a:lvl1pPr>
              <a:defRPr sz="1125" b="1">
                <a:solidFill>
                  <a:srgbClr val="087E82"/>
                </a:solidFill>
              </a:defRPr>
            </a:lvl1pPr>
            <a:lvl2pPr>
              <a:defRPr sz="1125" b="1">
                <a:solidFill>
                  <a:srgbClr val="087E82"/>
                </a:solidFill>
              </a:defRPr>
            </a:lvl2pPr>
            <a:lvl3pPr>
              <a:defRPr sz="1125" b="1">
                <a:solidFill>
                  <a:srgbClr val="087E82"/>
                </a:solidFill>
              </a:defRPr>
            </a:lvl3pPr>
            <a:lvl4pPr>
              <a:defRPr sz="1125" b="1">
                <a:solidFill>
                  <a:srgbClr val="087E82"/>
                </a:solidFill>
              </a:defRPr>
            </a:lvl4pPr>
            <a:lvl5pPr>
              <a:defRPr sz="1125" b="1">
                <a:solidFill>
                  <a:srgbClr val="087E82"/>
                </a:solidFill>
              </a:defRPr>
            </a:lvl5pPr>
            <a:lvl6pPr>
              <a:defRPr sz="1125" b="1">
                <a:solidFill>
                  <a:srgbClr val="087E82"/>
                </a:solidFill>
              </a:defRPr>
            </a:lvl6pPr>
            <a:lvl7pPr>
              <a:defRPr sz="1125" b="1">
                <a:solidFill>
                  <a:srgbClr val="087E82"/>
                </a:solidFill>
              </a:defRPr>
            </a:lvl7pPr>
            <a:lvl8pPr>
              <a:defRPr sz="1125" b="1">
                <a:solidFill>
                  <a:srgbClr val="087E82"/>
                </a:solidFill>
              </a:defRPr>
            </a:lvl8pPr>
            <a:lvl9pPr>
              <a:defRPr sz="1125" b="1">
                <a:solidFill>
                  <a:srgbClr val="087E82"/>
                </a:solidFill>
              </a:defRPr>
            </a:lvl9pPr>
          </a:lstStyle>
          <a:p>
            <a:pPr>
              <a:defRPr sz="1125" b="1">
                <a:solidFill>
                  <a:srgbClr val="087E82"/>
                </a:solidFill>
              </a:defRPr>
            </a:pPr>
            <a:r>
              <a:rPr sz="1125" b="1">
                <a:solidFill>
                  <a:srgbClr val="087E82"/>
                </a:solidFill>
              </a:rPr>
              <a:t>THEIA  /  PHASE 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03596-BC3C-4EF2-99D4-27998B1811C3}"/>
              </a:ext>
            </a:extLst>
          </p:cNvPr>
          <p:cNvSpPr>
            <a:spLocks noGrp="1"/>
          </p:cNvSpPr>
          <p:nvPr/>
        </p:nvSpPr>
        <p:spPr>
          <a:xfrm>
            <a:off x="628650" y="6953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850" b="1">
                <a:solidFill>
                  <a:srgbClr val="152C44"/>
                </a:solidFill>
              </a:defRPr>
            </a:defPPr>
            <a:lvl1pPr>
              <a:defRPr sz="2850" b="1">
                <a:solidFill>
                  <a:srgbClr val="152C44"/>
                </a:solidFill>
              </a:defRPr>
            </a:lvl1pPr>
            <a:lvl2pPr>
              <a:defRPr sz="2850" b="1">
                <a:solidFill>
                  <a:srgbClr val="152C44"/>
                </a:solidFill>
              </a:defRPr>
            </a:lvl2pPr>
            <a:lvl3pPr>
              <a:defRPr sz="2850" b="1">
                <a:solidFill>
                  <a:srgbClr val="152C44"/>
                </a:solidFill>
              </a:defRPr>
            </a:lvl3pPr>
            <a:lvl4pPr>
              <a:defRPr sz="2850" b="1">
                <a:solidFill>
                  <a:srgbClr val="152C44"/>
                </a:solidFill>
              </a:defRPr>
            </a:lvl4pPr>
            <a:lvl5pPr>
              <a:defRPr sz="2850" b="1">
                <a:solidFill>
                  <a:srgbClr val="152C44"/>
                </a:solidFill>
              </a:defRPr>
            </a:lvl5pPr>
            <a:lvl6pPr>
              <a:defRPr sz="2850" b="1">
                <a:solidFill>
                  <a:srgbClr val="152C44"/>
                </a:solidFill>
              </a:defRPr>
            </a:lvl6pPr>
            <a:lvl7pPr>
              <a:defRPr sz="2850" b="1">
                <a:solidFill>
                  <a:srgbClr val="152C44"/>
                </a:solidFill>
              </a:defRPr>
            </a:lvl7pPr>
            <a:lvl8pPr>
              <a:defRPr sz="2850" b="1">
                <a:solidFill>
                  <a:srgbClr val="152C44"/>
                </a:solidFill>
              </a:defRPr>
            </a:lvl8pPr>
            <a:lvl9pPr>
              <a:defRPr sz="2850" b="1">
                <a:solidFill>
                  <a:srgbClr val="152C44"/>
                </a:solidFill>
              </a:defRPr>
            </a:lvl9pPr>
          </a:lstStyle>
          <a:p>
            <a:pPr>
              <a:defRPr sz="2850" b="1">
                <a:solidFill>
                  <a:srgbClr val="152C44"/>
                </a:solidFill>
              </a:defRPr>
            </a:pPr>
            <a:r>
              <a:rPr sz="2850" b="1">
                <a:solidFill>
                  <a:srgbClr val="152C44"/>
                </a:solidFill>
              </a:rPr>
              <a:t>Priority analysis: Safe turn guidance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CE59AA-D251-483C-B0CA-F873D40D1EC2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906125" cy="19050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3561F3-711C-4641-B19F-5F980CD70791}"/>
              </a:ext>
            </a:extLst>
          </p:cNvPr>
          <p:cNvSpPr>
            <a:spLocks noGrp="1"/>
          </p:cNvSpPr>
          <p:nvPr/>
        </p:nvSpPr>
        <p:spPr>
          <a:xfrm>
            <a:off x="638175" y="1533525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536672"/>
                </a:solidFill>
              </a:defRPr>
            </a:defPPr>
            <a:lvl1pPr>
              <a:defRPr sz="1350" b="0">
                <a:solidFill>
                  <a:srgbClr val="536672"/>
                </a:solidFill>
              </a:defRPr>
            </a:lvl1pPr>
            <a:lvl2pPr>
              <a:defRPr sz="1350" b="0">
                <a:solidFill>
                  <a:srgbClr val="536672"/>
                </a:solidFill>
              </a:defRPr>
            </a:lvl2pPr>
            <a:lvl3pPr>
              <a:defRPr sz="1350" b="0">
                <a:solidFill>
                  <a:srgbClr val="536672"/>
                </a:solidFill>
              </a:defRPr>
            </a:lvl3pPr>
            <a:lvl4pPr>
              <a:defRPr sz="1350" b="0">
                <a:solidFill>
                  <a:srgbClr val="536672"/>
                </a:solidFill>
              </a:defRPr>
            </a:lvl4pPr>
            <a:lvl5pPr>
              <a:defRPr sz="1350" b="0">
                <a:solidFill>
                  <a:srgbClr val="536672"/>
                </a:solidFill>
              </a:defRPr>
            </a:lvl5pPr>
            <a:lvl6pPr>
              <a:defRPr sz="1350" b="0">
                <a:solidFill>
                  <a:srgbClr val="536672"/>
                </a:solidFill>
              </a:defRPr>
            </a:lvl6pPr>
            <a:lvl7pPr>
              <a:defRPr sz="1350" b="0">
                <a:solidFill>
                  <a:srgbClr val="536672"/>
                </a:solidFill>
              </a:defRPr>
            </a:lvl7pPr>
            <a:lvl8pPr>
              <a:defRPr sz="1350" b="0">
                <a:solidFill>
                  <a:srgbClr val="536672"/>
                </a:solidFill>
              </a:defRPr>
            </a:lvl8pPr>
            <a:lvl9pPr>
              <a:defRPr sz="1350" b="0">
                <a:solidFill>
                  <a:srgbClr val="536672"/>
                </a:solidFill>
              </a:defRPr>
            </a:lvl9pPr>
          </a:lstStyle>
          <a:p>
            <a:pPr>
              <a:defRPr sz="1350" b="0">
                <a:solidFill>
                  <a:srgbClr val="536672"/>
                </a:solidFill>
              </a:defRPr>
            </a:pPr>
            <a:r>
              <a:rPr sz="1350" b="0">
                <a:solidFill>
                  <a:srgbClr val="536672"/>
                </a:solidFill>
              </a:rPr>
              <a:t>Highest priority: Scenario 1, because mistimed turns can cause immediate injury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57EC0-175C-4287-89CB-3FAB8887A5B2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00" b="0">
                <a:solidFill>
                  <a:srgbClr val="536672"/>
                </a:solidFill>
              </a:defRPr>
            </a:defPPr>
            <a:lvl1pPr>
              <a:defRPr sz="1200" b="0">
                <a:solidFill>
                  <a:srgbClr val="536672"/>
                </a:solidFill>
              </a:defRPr>
            </a:lvl1pPr>
            <a:lvl2pPr>
              <a:defRPr sz="1200" b="0">
                <a:solidFill>
                  <a:srgbClr val="536672"/>
                </a:solidFill>
              </a:defRPr>
            </a:lvl2pPr>
            <a:lvl3pPr>
              <a:defRPr sz="1200" b="0">
                <a:solidFill>
                  <a:srgbClr val="536672"/>
                </a:solidFill>
              </a:defRPr>
            </a:lvl3pPr>
            <a:lvl4pPr>
              <a:defRPr sz="1200" b="0">
                <a:solidFill>
                  <a:srgbClr val="536672"/>
                </a:solidFill>
              </a:defRPr>
            </a:lvl4pPr>
            <a:lvl5pPr>
              <a:defRPr sz="1200" b="0">
                <a:solidFill>
                  <a:srgbClr val="536672"/>
                </a:solidFill>
              </a:defRPr>
            </a:lvl5pPr>
            <a:lvl6pPr>
              <a:defRPr sz="1200" b="0">
                <a:solidFill>
                  <a:srgbClr val="536672"/>
                </a:solidFill>
              </a:defRPr>
            </a:lvl6pPr>
            <a:lvl7pPr>
              <a:defRPr sz="1200" b="0">
                <a:solidFill>
                  <a:srgbClr val="536672"/>
                </a:solidFill>
              </a:defRPr>
            </a:lvl7pPr>
            <a:lvl8pPr>
              <a:defRPr sz="1200" b="0">
                <a:solidFill>
                  <a:srgbClr val="536672"/>
                </a:solidFill>
              </a:defRPr>
            </a:lvl8pPr>
            <a:lvl9pPr>
              <a:defRPr sz="1200" b="0">
                <a:solidFill>
                  <a:srgbClr val="536672"/>
                </a:solidFill>
              </a:defRPr>
            </a:lvl9pPr>
          </a:lstStyle>
          <a:p>
            <a:pPr>
              <a:defRPr sz="1200" b="0">
                <a:solidFill>
                  <a:srgbClr val="536672"/>
                </a:solidFill>
              </a:defRPr>
            </a:pPr>
            <a:r>
              <a:rPr sz="1200" b="0">
                <a:solidFill>
                  <a:srgbClr val="536672"/>
                </a:solidFill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D4D89D-5261-4249-B8F6-26796845980E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10668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025" b="1">
                <a:solidFill>
                  <a:srgbClr val="152C44"/>
                </a:solidFill>
              </a:defRPr>
            </a:defPPr>
            <a:lvl1pPr>
              <a:defRPr sz="2025" b="1">
                <a:solidFill>
                  <a:srgbClr val="152C44"/>
                </a:solidFill>
              </a:defRPr>
            </a:lvl1pPr>
            <a:lvl2pPr>
              <a:defRPr sz="2025" b="1">
                <a:solidFill>
                  <a:srgbClr val="152C44"/>
                </a:solidFill>
              </a:defRPr>
            </a:lvl2pPr>
            <a:lvl3pPr>
              <a:defRPr sz="2025" b="1">
                <a:solidFill>
                  <a:srgbClr val="152C44"/>
                </a:solidFill>
              </a:defRPr>
            </a:lvl3pPr>
            <a:lvl4pPr>
              <a:defRPr sz="2025" b="1">
                <a:solidFill>
                  <a:srgbClr val="152C44"/>
                </a:solidFill>
              </a:defRPr>
            </a:lvl4pPr>
            <a:lvl5pPr>
              <a:defRPr sz="2025" b="1">
                <a:solidFill>
                  <a:srgbClr val="152C44"/>
                </a:solidFill>
              </a:defRPr>
            </a:lvl5pPr>
            <a:lvl6pPr>
              <a:defRPr sz="2025" b="1">
                <a:solidFill>
                  <a:srgbClr val="152C44"/>
                </a:solidFill>
              </a:defRPr>
            </a:lvl6pPr>
            <a:lvl7pPr>
              <a:defRPr sz="2025" b="1">
                <a:solidFill>
                  <a:srgbClr val="152C44"/>
                </a:solidFill>
              </a:defRPr>
            </a:lvl7pPr>
            <a:lvl8pPr>
              <a:defRPr sz="2025" b="1">
                <a:solidFill>
                  <a:srgbClr val="152C44"/>
                </a:solidFill>
              </a:defRPr>
            </a:lvl8pPr>
            <a:lvl9pPr>
              <a:defRPr sz="2025" b="1">
                <a:solidFill>
                  <a:srgbClr val="152C44"/>
                </a:solidFill>
              </a:defRPr>
            </a:lvl9pPr>
          </a:lstStyle>
          <a:p>
            <a:pPr>
              <a:defRPr sz="2025" b="1">
                <a:solidFill>
                  <a:srgbClr val="152C44"/>
                </a:solidFill>
              </a:defRPr>
            </a:pPr>
            <a:r>
              <a:rPr sz="2025" b="1">
                <a:solidFill>
                  <a:srgbClr val="152C44"/>
                </a:solidFill>
              </a:rPr>
              <a:t>Questions to resolve in requirements elicitation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08AEC-C58D-4432-9DEB-1720EBAD4FD3}"/>
              </a:ext>
            </a:extLst>
          </p:cNvPr>
          <p:cNvSpPr>
            <a:spLocks noGrp="1"/>
          </p:cNvSpPr>
          <p:nvPr/>
        </p:nvSpPr>
        <p:spPr>
          <a:xfrm>
            <a:off x="638175" y="2762250"/>
            <a:ext cx="147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087E82"/>
                </a:solidFill>
              </a:defRPr>
            </a:defPPr>
            <a:lvl1pPr>
              <a:defRPr sz="1725" b="1">
                <a:solidFill>
                  <a:srgbClr val="087E82"/>
                </a:solidFill>
              </a:defRPr>
            </a:lvl1pPr>
            <a:lvl2pPr>
              <a:defRPr sz="1725" b="1">
                <a:solidFill>
                  <a:srgbClr val="087E82"/>
                </a:solidFill>
              </a:defRPr>
            </a:lvl2pPr>
            <a:lvl3pPr>
              <a:defRPr sz="1725" b="1">
                <a:solidFill>
                  <a:srgbClr val="087E82"/>
                </a:solidFill>
              </a:defRPr>
            </a:lvl3pPr>
            <a:lvl4pPr>
              <a:defRPr sz="1725" b="1">
                <a:solidFill>
                  <a:srgbClr val="087E82"/>
                </a:solidFill>
              </a:defRPr>
            </a:lvl4pPr>
            <a:lvl5pPr>
              <a:defRPr sz="1725" b="1">
                <a:solidFill>
                  <a:srgbClr val="087E82"/>
                </a:solidFill>
              </a:defRPr>
            </a:lvl5pPr>
            <a:lvl6pPr>
              <a:defRPr sz="1725" b="1">
                <a:solidFill>
                  <a:srgbClr val="087E82"/>
                </a:solidFill>
              </a:defRPr>
            </a:lvl6pPr>
            <a:lvl7pPr>
              <a:defRPr sz="1725" b="1">
                <a:solidFill>
                  <a:srgbClr val="087E82"/>
                </a:solidFill>
              </a:defRPr>
            </a:lvl7pPr>
            <a:lvl8pPr>
              <a:defRPr sz="1725" b="1">
                <a:solidFill>
                  <a:srgbClr val="087E82"/>
                </a:solidFill>
              </a:defRPr>
            </a:lvl8pPr>
            <a:lvl9pPr>
              <a:defRPr sz="1725" b="1">
                <a:solidFill>
                  <a:srgbClr val="087E82"/>
                </a:solidFill>
              </a:defRPr>
            </a:lvl9pPr>
          </a:lstStyle>
          <a:p>
            <a:pPr>
              <a:defRPr sz="1725" b="1">
                <a:solidFill>
                  <a:srgbClr val="087E82"/>
                </a:solidFill>
              </a:defRPr>
            </a:pPr>
            <a:r>
              <a:rPr sz="1725" b="1">
                <a:solidFill>
                  <a:srgbClr val="087E82"/>
                </a:solidFill>
              </a:rPr>
              <a:t>Who?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A1A65-17D2-44AE-B677-1807DB197446}"/>
              </a:ext>
            </a:extLst>
          </p:cNvPr>
          <p:cNvSpPr>
            <a:spLocks noGrp="1"/>
          </p:cNvSpPr>
          <p:nvPr/>
        </p:nvSpPr>
        <p:spPr>
          <a:xfrm>
            <a:off x="2105025" y="2762250"/>
            <a:ext cx="9144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Blind users, including first-time visitors. Who configures voice and vibration preferences?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E50E2D-6990-42B2-A03A-F9F173595D6F}"/>
              </a:ext>
            </a:extLst>
          </p:cNvPr>
          <p:cNvSpPr>
            <a:spLocks noGrp="1"/>
          </p:cNvSpPr>
          <p:nvPr/>
        </p:nvSpPr>
        <p:spPr>
          <a:xfrm>
            <a:off x="638175" y="3390900"/>
            <a:ext cx="147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087E82"/>
                </a:solidFill>
              </a:defRPr>
            </a:defPPr>
            <a:lvl1pPr>
              <a:defRPr sz="1725" b="1">
                <a:solidFill>
                  <a:srgbClr val="087E82"/>
                </a:solidFill>
              </a:defRPr>
            </a:lvl1pPr>
            <a:lvl2pPr>
              <a:defRPr sz="1725" b="1">
                <a:solidFill>
                  <a:srgbClr val="087E82"/>
                </a:solidFill>
              </a:defRPr>
            </a:lvl2pPr>
            <a:lvl3pPr>
              <a:defRPr sz="1725" b="1">
                <a:solidFill>
                  <a:srgbClr val="087E82"/>
                </a:solidFill>
              </a:defRPr>
            </a:lvl3pPr>
            <a:lvl4pPr>
              <a:defRPr sz="1725" b="1">
                <a:solidFill>
                  <a:srgbClr val="087E82"/>
                </a:solidFill>
              </a:defRPr>
            </a:lvl4pPr>
            <a:lvl5pPr>
              <a:defRPr sz="1725" b="1">
                <a:solidFill>
                  <a:srgbClr val="087E82"/>
                </a:solidFill>
              </a:defRPr>
            </a:lvl5pPr>
            <a:lvl6pPr>
              <a:defRPr sz="1725" b="1">
                <a:solidFill>
                  <a:srgbClr val="087E82"/>
                </a:solidFill>
              </a:defRPr>
            </a:lvl6pPr>
            <a:lvl7pPr>
              <a:defRPr sz="1725" b="1">
                <a:solidFill>
                  <a:srgbClr val="087E82"/>
                </a:solidFill>
              </a:defRPr>
            </a:lvl7pPr>
            <a:lvl8pPr>
              <a:defRPr sz="1725" b="1">
                <a:solidFill>
                  <a:srgbClr val="087E82"/>
                </a:solidFill>
              </a:defRPr>
            </a:lvl8pPr>
            <a:lvl9pPr>
              <a:defRPr sz="1725" b="1">
                <a:solidFill>
                  <a:srgbClr val="087E82"/>
                </a:solidFill>
              </a:defRPr>
            </a:lvl9pPr>
          </a:lstStyle>
          <a:p>
            <a:pPr>
              <a:defRPr sz="1725" b="1">
                <a:solidFill>
                  <a:srgbClr val="087E82"/>
                </a:solidFill>
              </a:defRPr>
            </a:pPr>
            <a:r>
              <a:rPr sz="1725" b="1">
                <a:solidFill>
                  <a:srgbClr val="087E82"/>
                </a:solidFill>
              </a:rPr>
              <a:t>When?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63C4D7-815D-4482-A8B1-CBD3A6760780}"/>
              </a:ext>
            </a:extLst>
          </p:cNvPr>
          <p:cNvSpPr>
            <a:spLocks noGrp="1"/>
          </p:cNvSpPr>
          <p:nvPr/>
        </p:nvSpPr>
        <p:spPr>
          <a:xfrm>
            <a:off x="2105025" y="3390900"/>
            <a:ext cx="9144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How early should an approaching-turn warning occur? What if the user stops or walks past it?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570FE3-98EC-440A-9727-B5ED124B6FD3}"/>
              </a:ext>
            </a:extLst>
          </p:cNvPr>
          <p:cNvSpPr>
            <a:spLocks noGrp="1"/>
          </p:cNvSpPr>
          <p:nvPr/>
        </p:nvSpPr>
        <p:spPr>
          <a:xfrm>
            <a:off x="638175" y="4019550"/>
            <a:ext cx="147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087E82"/>
                </a:solidFill>
              </a:defRPr>
            </a:defPPr>
            <a:lvl1pPr>
              <a:defRPr sz="1725" b="1">
                <a:solidFill>
                  <a:srgbClr val="087E82"/>
                </a:solidFill>
              </a:defRPr>
            </a:lvl1pPr>
            <a:lvl2pPr>
              <a:defRPr sz="1725" b="1">
                <a:solidFill>
                  <a:srgbClr val="087E82"/>
                </a:solidFill>
              </a:defRPr>
            </a:lvl2pPr>
            <a:lvl3pPr>
              <a:defRPr sz="1725" b="1">
                <a:solidFill>
                  <a:srgbClr val="087E82"/>
                </a:solidFill>
              </a:defRPr>
            </a:lvl3pPr>
            <a:lvl4pPr>
              <a:defRPr sz="1725" b="1">
                <a:solidFill>
                  <a:srgbClr val="087E82"/>
                </a:solidFill>
              </a:defRPr>
            </a:lvl4pPr>
            <a:lvl5pPr>
              <a:defRPr sz="1725" b="1">
                <a:solidFill>
                  <a:srgbClr val="087E82"/>
                </a:solidFill>
              </a:defRPr>
            </a:lvl5pPr>
            <a:lvl6pPr>
              <a:defRPr sz="1725" b="1">
                <a:solidFill>
                  <a:srgbClr val="087E82"/>
                </a:solidFill>
              </a:defRPr>
            </a:lvl6pPr>
            <a:lvl7pPr>
              <a:defRPr sz="1725" b="1">
                <a:solidFill>
                  <a:srgbClr val="087E82"/>
                </a:solidFill>
              </a:defRPr>
            </a:lvl7pPr>
            <a:lvl8pPr>
              <a:defRPr sz="1725" b="1">
                <a:solidFill>
                  <a:srgbClr val="087E82"/>
                </a:solidFill>
              </a:defRPr>
            </a:lvl8pPr>
            <a:lvl9pPr>
              <a:defRPr sz="1725" b="1">
                <a:solidFill>
                  <a:srgbClr val="087E82"/>
                </a:solidFill>
              </a:defRPr>
            </a:lvl9pPr>
          </a:lstStyle>
          <a:p>
            <a:pPr>
              <a:defRPr sz="1725" b="1">
                <a:solidFill>
                  <a:srgbClr val="087E82"/>
                </a:solidFill>
              </a:defRPr>
            </a:pPr>
            <a:r>
              <a:rPr sz="1725" b="1">
                <a:solidFill>
                  <a:srgbClr val="087E82"/>
                </a:solidFill>
              </a:rPr>
              <a:t>Where?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BE4C60-7F69-4B8D-AA6A-48B3A9A2F61B}"/>
              </a:ext>
            </a:extLst>
          </p:cNvPr>
          <p:cNvSpPr>
            <a:spLocks noGrp="1"/>
          </p:cNvSpPr>
          <p:nvPr/>
        </p:nvSpPr>
        <p:spPr>
          <a:xfrm>
            <a:off x="2105025" y="4019550"/>
            <a:ext cx="9144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How accurately must the phone identify corridors, doors, corners, and floors?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04B0E3-59F6-4E8E-A477-14E36DE14928}"/>
              </a:ext>
            </a:extLst>
          </p:cNvPr>
          <p:cNvSpPr>
            <a:spLocks noGrp="1"/>
          </p:cNvSpPr>
          <p:nvPr/>
        </p:nvSpPr>
        <p:spPr>
          <a:xfrm>
            <a:off x="638175" y="4648200"/>
            <a:ext cx="147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087E82"/>
                </a:solidFill>
              </a:defRPr>
            </a:defPPr>
            <a:lvl1pPr>
              <a:defRPr sz="1725" b="1">
                <a:solidFill>
                  <a:srgbClr val="087E82"/>
                </a:solidFill>
              </a:defRPr>
            </a:lvl1pPr>
            <a:lvl2pPr>
              <a:defRPr sz="1725" b="1">
                <a:solidFill>
                  <a:srgbClr val="087E82"/>
                </a:solidFill>
              </a:defRPr>
            </a:lvl2pPr>
            <a:lvl3pPr>
              <a:defRPr sz="1725" b="1">
                <a:solidFill>
                  <a:srgbClr val="087E82"/>
                </a:solidFill>
              </a:defRPr>
            </a:lvl3pPr>
            <a:lvl4pPr>
              <a:defRPr sz="1725" b="1">
                <a:solidFill>
                  <a:srgbClr val="087E82"/>
                </a:solidFill>
              </a:defRPr>
            </a:lvl4pPr>
            <a:lvl5pPr>
              <a:defRPr sz="1725" b="1">
                <a:solidFill>
                  <a:srgbClr val="087E82"/>
                </a:solidFill>
              </a:defRPr>
            </a:lvl5pPr>
            <a:lvl6pPr>
              <a:defRPr sz="1725" b="1">
                <a:solidFill>
                  <a:srgbClr val="087E82"/>
                </a:solidFill>
              </a:defRPr>
            </a:lvl6pPr>
            <a:lvl7pPr>
              <a:defRPr sz="1725" b="1">
                <a:solidFill>
                  <a:srgbClr val="087E82"/>
                </a:solidFill>
              </a:defRPr>
            </a:lvl7pPr>
            <a:lvl8pPr>
              <a:defRPr sz="1725" b="1">
                <a:solidFill>
                  <a:srgbClr val="087E82"/>
                </a:solidFill>
              </a:defRPr>
            </a:lvl8pPr>
            <a:lvl9pPr>
              <a:defRPr sz="1725" b="1">
                <a:solidFill>
                  <a:srgbClr val="087E82"/>
                </a:solidFill>
              </a:defRPr>
            </a:lvl9pPr>
          </a:lstStyle>
          <a:p>
            <a:pPr>
              <a:defRPr sz="1725" b="1">
                <a:solidFill>
                  <a:srgbClr val="087E82"/>
                </a:solidFill>
              </a:defRPr>
            </a:pPr>
            <a:r>
              <a:rPr sz="1725" b="1">
                <a:solidFill>
                  <a:srgbClr val="087E82"/>
                </a:solidFill>
              </a:rPr>
              <a:t>What?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D1A93C-1144-451C-B484-BC73E5FAAE2A}"/>
              </a:ext>
            </a:extLst>
          </p:cNvPr>
          <p:cNvSpPr>
            <a:spLocks noGrp="1"/>
          </p:cNvSpPr>
          <p:nvPr/>
        </p:nvSpPr>
        <p:spPr>
          <a:xfrm>
            <a:off x="2105025" y="4648200"/>
            <a:ext cx="9144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What instructions should THEIA give before the turn, at the turn, and after it?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324E83-6707-4391-860C-5B2A87BF03E3}"/>
              </a:ext>
            </a:extLst>
          </p:cNvPr>
          <p:cNvSpPr>
            <a:spLocks noGrp="1"/>
          </p:cNvSpPr>
          <p:nvPr/>
        </p:nvSpPr>
        <p:spPr>
          <a:xfrm>
            <a:off x="638175" y="5276850"/>
            <a:ext cx="1476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1">
                <a:solidFill>
                  <a:srgbClr val="087E82"/>
                </a:solidFill>
              </a:defRPr>
            </a:defPPr>
            <a:lvl1pPr>
              <a:defRPr sz="1725" b="1">
                <a:solidFill>
                  <a:srgbClr val="087E82"/>
                </a:solidFill>
              </a:defRPr>
            </a:lvl1pPr>
            <a:lvl2pPr>
              <a:defRPr sz="1725" b="1">
                <a:solidFill>
                  <a:srgbClr val="087E82"/>
                </a:solidFill>
              </a:defRPr>
            </a:lvl2pPr>
            <a:lvl3pPr>
              <a:defRPr sz="1725" b="1">
                <a:solidFill>
                  <a:srgbClr val="087E82"/>
                </a:solidFill>
              </a:defRPr>
            </a:lvl3pPr>
            <a:lvl4pPr>
              <a:defRPr sz="1725" b="1">
                <a:solidFill>
                  <a:srgbClr val="087E82"/>
                </a:solidFill>
              </a:defRPr>
            </a:lvl4pPr>
            <a:lvl5pPr>
              <a:defRPr sz="1725" b="1">
                <a:solidFill>
                  <a:srgbClr val="087E82"/>
                </a:solidFill>
              </a:defRPr>
            </a:lvl5pPr>
            <a:lvl6pPr>
              <a:defRPr sz="1725" b="1">
                <a:solidFill>
                  <a:srgbClr val="087E82"/>
                </a:solidFill>
              </a:defRPr>
            </a:lvl6pPr>
            <a:lvl7pPr>
              <a:defRPr sz="1725" b="1">
                <a:solidFill>
                  <a:srgbClr val="087E82"/>
                </a:solidFill>
              </a:defRPr>
            </a:lvl7pPr>
            <a:lvl8pPr>
              <a:defRPr sz="1725" b="1">
                <a:solidFill>
                  <a:srgbClr val="087E82"/>
                </a:solidFill>
              </a:defRPr>
            </a:lvl8pPr>
            <a:lvl9pPr>
              <a:defRPr sz="1725" b="1">
                <a:solidFill>
                  <a:srgbClr val="087E82"/>
                </a:solidFill>
              </a:defRPr>
            </a:lvl9pPr>
          </a:lstStyle>
          <a:p>
            <a:pPr>
              <a:defRPr sz="1725" b="1">
                <a:solidFill>
                  <a:srgbClr val="087E82"/>
                </a:solidFill>
              </a:defRPr>
            </a:pPr>
            <a:r>
              <a:rPr sz="1725" b="1">
                <a:solidFill>
                  <a:srgbClr val="087E82"/>
                </a:solidFill>
              </a:rPr>
              <a:t>Failure cases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C38D22-63A1-4E93-941B-544FDA0B4528}"/>
              </a:ext>
            </a:extLst>
          </p:cNvPr>
          <p:cNvSpPr>
            <a:spLocks noGrp="1"/>
          </p:cNvSpPr>
          <p:nvPr/>
        </p:nvSpPr>
        <p:spPr>
          <a:xfrm>
            <a:off x="2105025" y="5276850"/>
            <a:ext cx="9144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What happens when position is uncertain, a route is blocked, or a sensor fails?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BB79FF-8CCE-40B6-B68E-4B432E50EB26}"/>
              </a:ext>
            </a:extLst>
          </p:cNvPr>
          <p:cNvSpPr>
            <a:spLocks noGrp="1"/>
          </p:cNvSpPr>
          <p:nvPr/>
        </p:nvSpPr>
        <p:spPr>
          <a:xfrm>
            <a:off x="628650" y="6076950"/>
            <a:ext cx="10382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536672"/>
                </a:solidFill>
              </a:defRPr>
            </a:defPPr>
            <a:lvl1pPr>
              <a:defRPr sz="1350" b="0">
                <a:solidFill>
                  <a:srgbClr val="536672"/>
                </a:solidFill>
              </a:defRPr>
            </a:lvl1pPr>
            <a:lvl2pPr>
              <a:defRPr sz="1350" b="0">
                <a:solidFill>
                  <a:srgbClr val="536672"/>
                </a:solidFill>
              </a:defRPr>
            </a:lvl2pPr>
            <a:lvl3pPr>
              <a:defRPr sz="1350" b="0">
                <a:solidFill>
                  <a:srgbClr val="536672"/>
                </a:solidFill>
              </a:defRPr>
            </a:lvl3pPr>
            <a:lvl4pPr>
              <a:defRPr sz="1350" b="0">
                <a:solidFill>
                  <a:srgbClr val="536672"/>
                </a:solidFill>
              </a:defRPr>
            </a:lvl4pPr>
            <a:lvl5pPr>
              <a:defRPr sz="1350" b="0">
                <a:solidFill>
                  <a:srgbClr val="536672"/>
                </a:solidFill>
              </a:defRPr>
            </a:lvl5pPr>
            <a:lvl6pPr>
              <a:defRPr sz="1350" b="0">
                <a:solidFill>
                  <a:srgbClr val="536672"/>
                </a:solidFill>
              </a:defRPr>
            </a:lvl6pPr>
            <a:lvl7pPr>
              <a:defRPr sz="1350" b="0">
                <a:solidFill>
                  <a:srgbClr val="536672"/>
                </a:solidFill>
              </a:defRPr>
            </a:lvl7pPr>
            <a:lvl8pPr>
              <a:defRPr sz="1350" b="0">
                <a:solidFill>
                  <a:srgbClr val="536672"/>
                </a:solidFill>
              </a:defRPr>
            </a:lvl8pPr>
            <a:lvl9pPr>
              <a:defRPr sz="1350" b="0">
                <a:solidFill>
                  <a:srgbClr val="536672"/>
                </a:solidFill>
              </a:defRPr>
            </a:lvl9pPr>
          </a:lstStyle>
          <a:p>
            <a:pPr>
              <a:defRPr sz="1350" b="0">
                <a:solidFill>
                  <a:srgbClr val="536672"/>
                </a:solidFill>
              </a:defRPr>
            </a:pPr>
            <a:r>
              <a:rPr sz="1350" b="0">
                <a:solidFill>
                  <a:srgbClr val="536672"/>
                </a:solidFill>
              </a:rPr>
              <a:t>Acceptance idea: Users receive a stop/turn cue before the corner and a clear recovery instruction if the location is uncertain.</a:t>
            </a:r>
          </a:p>
        </p:txBody>
      </p:sp>
    </p:spTree>
    <p:extLst>
      <p:ext uri="{BB962C8B-B14F-4D97-AF65-F5344CB8AC3E}">
        <p14:creationId xmlns:p14="http://schemas.microsoft.com/office/powerpoint/2010/main" val="404380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48EE66B-8CD2-4328-8084-6D974DBE8E72}"/>
              </a:ext>
            </a:extLst>
          </p:cNvPr>
          <p:cNvSpPr>
            <a:spLocks noGrp="1"/>
          </p:cNvSpPr>
          <p:nvPr/>
        </p:nvSpPr>
        <p:spPr>
          <a:xfrm>
            <a:off x="628650" y="276225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 b="1">
                <a:solidFill>
                  <a:srgbClr val="087E82"/>
                </a:solidFill>
              </a:defRPr>
            </a:defPPr>
            <a:lvl1pPr>
              <a:defRPr sz="1125" b="1">
                <a:solidFill>
                  <a:srgbClr val="087E82"/>
                </a:solidFill>
              </a:defRPr>
            </a:lvl1pPr>
            <a:lvl2pPr>
              <a:defRPr sz="1125" b="1">
                <a:solidFill>
                  <a:srgbClr val="087E82"/>
                </a:solidFill>
              </a:defRPr>
            </a:lvl2pPr>
            <a:lvl3pPr>
              <a:defRPr sz="1125" b="1">
                <a:solidFill>
                  <a:srgbClr val="087E82"/>
                </a:solidFill>
              </a:defRPr>
            </a:lvl3pPr>
            <a:lvl4pPr>
              <a:defRPr sz="1125" b="1">
                <a:solidFill>
                  <a:srgbClr val="087E82"/>
                </a:solidFill>
              </a:defRPr>
            </a:lvl4pPr>
            <a:lvl5pPr>
              <a:defRPr sz="1125" b="1">
                <a:solidFill>
                  <a:srgbClr val="087E82"/>
                </a:solidFill>
              </a:defRPr>
            </a:lvl5pPr>
            <a:lvl6pPr>
              <a:defRPr sz="1125" b="1">
                <a:solidFill>
                  <a:srgbClr val="087E82"/>
                </a:solidFill>
              </a:defRPr>
            </a:lvl6pPr>
            <a:lvl7pPr>
              <a:defRPr sz="1125" b="1">
                <a:solidFill>
                  <a:srgbClr val="087E82"/>
                </a:solidFill>
              </a:defRPr>
            </a:lvl7pPr>
            <a:lvl8pPr>
              <a:defRPr sz="1125" b="1">
                <a:solidFill>
                  <a:srgbClr val="087E82"/>
                </a:solidFill>
              </a:defRPr>
            </a:lvl8pPr>
            <a:lvl9pPr>
              <a:defRPr sz="1125" b="1">
                <a:solidFill>
                  <a:srgbClr val="087E82"/>
                </a:solidFill>
              </a:defRPr>
            </a:lvl9pPr>
          </a:lstStyle>
          <a:p>
            <a:pPr>
              <a:defRPr sz="1125" b="1">
                <a:solidFill>
                  <a:srgbClr val="087E82"/>
                </a:solidFill>
              </a:defRPr>
            </a:pPr>
            <a:r>
              <a:rPr sz="1125" b="1">
                <a:solidFill>
                  <a:srgbClr val="087E82"/>
                </a:solidFill>
              </a:rPr>
              <a:t>THEIA  /  PHASE 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733AF2-619F-4F39-86DC-59B155C42AA1}"/>
              </a:ext>
            </a:extLst>
          </p:cNvPr>
          <p:cNvSpPr>
            <a:spLocks noGrp="1"/>
          </p:cNvSpPr>
          <p:nvPr/>
        </p:nvSpPr>
        <p:spPr>
          <a:xfrm>
            <a:off x="628650" y="6953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850" b="1">
                <a:solidFill>
                  <a:srgbClr val="152C44"/>
                </a:solidFill>
              </a:defRPr>
            </a:defPPr>
            <a:lvl1pPr>
              <a:defRPr sz="2850" b="1">
                <a:solidFill>
                  <a:srgbClr val="152C44"/>
                </a:solidFill>
              </a:defRPr>
            </a:lvl1pPr>
            <a:lvl2pPr>
              <a:defRPr sz="2850" b="1">
                <a:solidFill>
                  <a:srgbClr val="152C44"/>
                </a:solidFill>
              </a:defRPr>
            </a:lvl2pPr>
            <a:lvl3pPr>
              <a:defRPr sz="2850" b="1">
                <a:solidFill>
                  <a:srgbClr val="152C44"/>
                </a:solidFill>
              </a:defRPr>
            </a:lvl3pPr>
            <a:lvl4pPr>
              <a:defRPr sz="2850" b="1">
                <a:solidFill>
                  <a:srgbClr val="152C44"/>
                </a:solidFill>
              </a:defRPr>
            </a:lvl4pPr>
            <a:lvl5pPr>
              <a:defRPr sz="2850" b="1">
                <a:solidFill>
                  <a:srgbClr val="152C44"/>
                </a:solidFill>
              </a:defRPr>
            </a:lvl5pPr>
            <a:lvl6pPr>
              <a:defRPr sz="2850" b="1">
                <a:solidFill>
                  <a:srgbClr val="152C44"/>
                </a:solidFill>
              </a:defRPr>
            </a:lvl6pPr>
            <a:lvl7pPr>
              <a:defRPr sz="2850" b="1">
                <a:solidFill>
                  <a:srgbClr val="152C44"/>
                </a:solidFill>
              </a:defRPr>
            </a:lvl7pPr>
            <a:lvl8pPr>
              <a:defRPr sz="2850" b="1">
                <a:solidFill>
                  <a:srgbClr val="152C44"/>
                </a:solidFill>
              </a:defRPr>
            </a:lvl8pPr>
            <a:lvl9pPr>
              <a:defRPr sz="2850" b="1">
                <a:solidFill>
                  <a:srgbClr val="152C44"/>
                </a:solidFill>
              </a:defRPr>
            </a:lvl9pPr>
          </a:lstStyle>
          <a:p>
            <a:pPr>
              <a:defRPr sz="2850" b="1">
                <a:solidFill>
                  <a:srgbClr val="152C44"/>
                </a:solidFill>
              </a:defRPr>
            </a:pPr>
            <a:r>
              <a:rPr sz="2850" b="1">
                <a:solidFill>
                  <a:srgbClr val="152C44"/>
                </a:solidFill>
              </a:rPr>
              <a:t>Why use THEIA?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47C1FD-2B40-420B-B00D-6879797C967B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906125" cy="19050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18EB3F-9F1C-45EF-BDDB-378F969376F2}"/>
              </a:ext>
            </a:extLst>
          </p:cNvPr>
          <p:cNvSpPr>
            <a:spLocks noGrp="1"/>
          </p:cNvSpPr>
          <p:nvPr/>
        </p:nvSpPr>
        <p:spPr>
          <a:xfrm>
            <a:off x="638175" y="1533525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536672"/>
                </a:solidFill>
              </a:defRPr>
            </a:defPPr>
            <a:lvl1pPr>
              <a:defRPr sz="1350" b="0">
                <a:solidFill>
                  <a:srgbClr val="536672"/>
                </a:solidFill>
              </a:defRPr>
            </a:lvl1pPr>
            <a:lvl2pPr>
              <a:defRPr sz="1350" b="0">
                <a:solidFill>
                  <a:srgbClr val="536672"/>
                </a:solidFill>
              </a:defRPr>
            </a:lvl2pPr>
            <a:lvl3pPr>
              <a:defRPr sz="1350" b="0">
                <a:solidFill>
                  <a:srgbClr val="536672"/>
                </a:solidFill>
              </a:defRPr>
            </a:lvl3pPr>
            <a:lvl4pPr>
              <a:defRPr sz="1350" b="0">
                <a:solidFill>
                  <a:srgbClr val="536672"/>
                </a:solidFill>
              </a:defRPr>
            </a:lvl4pPr>
            <a:lvl5pPr>
              <a:defRPr sz="1350" b="0">
                <a:solidFill>
                  <a:srgbClr val="536672"/>
                </a:solidFill>
              </a:defRPr>
            </a:lvl5pPr>
            <a:lvl6pPr>
              <a:defRPr sz="1350" b="0">
                <a:solidFill>
                  <a:srgbClr val="536672"/>
                </a:solidFill>
              </a:defRPr>
            </a:lvl6pPr>
            <a:lvl7pPr>
              <a:defRPr sz="1350" b="0">
                <a:solidFill>
                  <a:srgbClr val="536672"/>
                </a:solidFill>
              </a:defRPr>
            </a:lvl7pPr>
            <a:lvl8pPr>
              <a:defRPr sz="1350" b="0">
                <a:solidFill>
                  <a:srgbClr val="536672"/>
                </a:solidFill>
              </a:defRPr>
            </a:lvl8pPr>
            <a:lvl9pPr>
              <a:defRPr sz="1350" b="0">
                <a:solidFill>
                  <a:srgbClr val="536672"/>
                </a:solidFill>
              </a:defRPr>
            </a:lvl9pPr>
          </a:lstStyle>
          <a:p>
            <a:pPr>
              <a:defRPr sz="1350" b="0">
                <a:solidFill>
                  <a:srgbClr val="536672"/>
                </a:solidFill>
              </a:defRPr>
            </a:pPr>
            <a:r>
              <a:rPr sz="1350" b="0">
                <a:solidFill>
                  <a:srgbClr val="536672"/>
                </a:solidFill>
              </a:rPr>
              <a:t>Benefits tied to the project 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31FF43-A677-46F8-9B3D-79CCEDD4E4B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00" b="0">
                <a:solidFill>
                  <a:srgbClr val="536672"/>
                </a:solidFill>
              </a:defRPr>
            </a:defPPr>
            <a:lvl1pPr>
              <a:defRPr sz="1200" b="0">
                <a:solidFill>
                  <a:srgbClr val="536672"/>
                </a:solidFill>
              </a:defRPr>
            </a:lvl1pPr>
            <a:lvl2pPr>
              <a:defRPr sz="1200" b="0">
                <a:solidFill>
                  <a:srgbClr val="536672"/>
                </a:solidFill>
              </a:defRPr>
            </a:lvl2pPr>
            <a:lvl3pPr>
              <a:defRPr sz="1200" b="0">
                <a:solidFill>
                  <a:srgbClr val="536672"/>
                </a:solidFill>
              </a:defRPr>
            </a:lvl3pPr>
            <a:lvl4pPr>
              <a:defRPr sz="1200" b="0">
                <a:solidFill>
                  <a:srgbClr val="536672"/>
                </a:solidFill>
              </a:defRPr>
            </a:lvl4pPr>
            <a:lvl5pPr>
              <a:defRPr sz="1200" b="0">
                <a:solidFill>
                  <a:srgbClr val="536672"/>
                </a:solidFill>
              </a:defRPr>
            </a:lvl5pPr>
            <a:lvl6pPr>
              <a:defRPr sz="1200" b="0">
                <a:solidFill>
                  <a:srgbClr val="536672"/>
                </a:solidFill>
              </a:defRPr>
            </a:lvl6pPr>
            <a:lvl7pPr>
              <a:defRPr sz="1200" b="0">
                <a:solidFill>
                  <a:srgbClr val="536672"/>
                </a:solidFill>
              </a:defRPr>
            </a:lvl7pPr>
            <a:lvl8pPr>
              <a:defRPr sz="1200" b="0">
                <a:solidFill>
                  <a:srgbClr val="536672"/>
                </a:solidFill>
              </a:defRPr>
            </a:lvl8pPr>
            <a:lvl9pPr>
              <a:defRPr sz="1200" b="0">
                <a:solidFill>
                  <a:srgbClr val="536672"/>
                </a:solidFill>
              </a:defRPr>
            </a:lvl9pPr>
          </a:lstStyle>
          <a:p>
            <a:pPr>
              <a:defRPr sz="1200" b="0">
                <a:solidFill>
                  <a:srgbClr val="536672"/>
                </a:solidFill>
              </a:defRPr>
            </a:pPr>
            <a:r>
              <a:rPr sz="1200" b="0">
                <a:solidFill>
                  <a:srgbClr val="536672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D847FF-0B67-4FD8-85BA-CD33B4443F1A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7429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00" b="1">
                <a:solidFill>
                  <a:srgbClr val="087E82"/>
                </a:solidFill>
              </a:defRPr>
            </a:defPPr>
            <a:lvl1pPr>
              <a:defRPr sz="2100" b="1">
                <a:solidFill>
                  <a:srgbClr val="087E82"/>
                </a:solidFill>
              </a:defRPr>
            </a:lvl1pPr>
            <a:lvl2pPr>
              <a:defRPr sz="2100" b="1">
                <a:solidFill>
                  <a:srgbClr val="087E82"/>
                </a:solidFill>
              </a:defRPr>
            </a:lvl2pPr>
            <a:lvl3pPr>
              <a:defRPr sz="2100" b="1">
                <a:solidFill>
                  <a:srgbClr val="087E82"/>
                </a:solidFill>
              </a:defRPr>
            </a:lvl3pPr>
            <a:lvl4pPr>
              <a:defRPr sz="2100" b="1">
                <a:solidFill>
                  <a:srgbClr val="087E82"/>
                </a:solidFill>
              </a:defRPr>
            </a:lvl4pPr>
            <a:lvl5pPr>
              <a:defRPr sz="2100" b="1">
                <a:solidFill>
                  <a:srgbClr val="087E82"/>
                </a:solidFill>
              </a:defRPr>
            </a:lvl5pPr>
            <a:lvl6pPr>
              <a:defRPr sz="2100" b="1">
                <a:solidFill>
                  <a:srgbClr val="087E82"/>
                </a:solidFill>
              </a:defRPr>
            </a:lvl6pPr>
            <a:lvl7pPr>
              <a:defRPr sz="2100" b="1">
                <a:solidFill>
                  <a:srgbClr val="087E82"/>
                </a:solidFill>
              </a:defRPr>
            </a:lvl7pPr>
            <a:lvl8pPr>
              <a:defRPr sz="2100" b="1">
                <a:solidFill>
                  <a:srgbClr val="087E82"/>
                </a:solidFill>
              </a:defRPr>
            </a:lvl8pPr>
            <a:lvl9pPr>
              <a:defRPr sz="2100" b="1">
                <a:solidFill>
                  <a:srgbClr val="087E82"/>
                </a:solidFill>
              </a:defRPr>
            </a:lvl9pPr>
          </a:lstStyle>
          <a:p>
            <a:pPr>
              <a:defRPr sz="2100" b="1">
                <a:solidFill>
                  <a:srgbClr val="087E82"/>
                </a:solidFill>
              </a:defRPr>
            </a:pPr>
            <a:r>
              <a:rPr sz="2100" b="1">
                <a:solidFill>
                  <a:srgbClr val="087E82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CB4A38-7CDD-4449-A90B-892606970D3E}"/>
              </a:ext>
            </a:extLst>
          </p:cNvPr>
          <p:cNvSpPr>
            <a:spLocks noGrp="1"/>
          </p:cNvSpPr>
          <p:nvPr/>
        </p:nvSpPr>
        <p:spPr>
          <a:xfrm>
            <a:off x="1533525" y="2228850"/>
            <a:ext cx="3714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Safer indoor travel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9EDC28-D440-4DE5-AC9C-2158376DB8FC}"/>
              </a:ext>
            </a:extLst>
          </p:cNvPr>
          <p:cNvSpPr>
            <a:spLocks noGrp="1"/>
          </p:cNvSpPr>
          <p:nvPr/>
        </p:nvSpPr>
        <p:spPr>
          <a:xfrm>
            <a:off x="5257800" y="2228850"/>
            <a:ext cx="58197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0">
                <a:solidFill>
                  <a:srgbClr val="1D303B"/>
                </a:solidFill>
              </a:defRPr>
            </a:defPPr>
            <a:lvl1pPr>
              <a:defRPr sz="1725" b="0">
                <a:solidFill>
                  <a:srgbClr val="1D303B"/>
                </a:solidFill>
              </a:defRPr>
            </a:lvl1pPr>
            <a:lvl2pPr>
              <a:defRPr sz="1725" b="0">
                <a:solidFill>
                  <a:srgbClr val="1D303B"/>
                </a:solidFill>
              </a:defRPr>
            </a:lvl2pPr>
            <a:lvl3pPr>
              <a:defRPr sz="1725" b="0">
                <a:solidFill>
                  <a:srgbClr val="1D303B"/>
                </a:solidFill>
              </a:defRPr>
            </a:lvl3pPr>
            <a:lvl4pPr>
              <a:defRPr sz="1725" b="0">
                <a:solidFill>
                  <a:srgbClr val="1D303B"/>
                </a:solidFill>
              </a:defRPr>
            </a:lvl4pPr>
            <a:lvl5pPr>
              <a:defRPr sz="1725" b="0">
                <a:solidFill>
                  <a:srgbClr val="1D303B"/>
                </a:solidFill>
              </a:defRPr>
            </a:lvl5pPr>
            <a:lvl6pPr>
              <a:defRPr sz="1725" b="0">
                <a:solidFill>
                  <a:srgbClr val="1D303B"/>
                </a:solidFill>
              </a:defRPr>
            </a:lvl6pPr>
            <a:lvl7pPr>
              <a:defRPr sz="1725" b="0">
                <a:solidFill>
                  <a:srgbClr val="1D303B"/>
                </a:solidFill>
              </a:defRPr>
            </a:lvl7pPr>
            <a:lvl8pPr>
              <a:defRPr sz="1725" b="0">
                <a:solidFill>
                  <a:srgbClr val="1D303B"/>
                </a:solidFill>
              </a:defRPr>
            </a:lvl8pPr>
            <a:lvl9pPr>
              <a:defRPr sz="1725" b="0">
                <a:solidFill>
                  <a:srgbClr val="1D303B"/>
                </a:solidFill>
              </a:defRPr>
            </a:lvl9pPr>
          </a:lstStyle>
          <a:p>
            <a:pPr>
              <a:defRPr sz="1725" b="0">
                <a:solidFill>
                  <a:srgbClr val="1D303B"/>
                </a:solidFill>
              </a:defRPr>
            </a:pPr>
            <a:r>
              <a:rPr sz="1725" b="0">
                <a:solidFill>
                  <a:srgbClr val="1D303B"/>
                </a:solidFill>
              </a:rPr>
              <a:t>Turn cues and obstacle warnings can help reduce collisions.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7421D-BF7B-465D-8B5C-A2D543D1C015}"/>
              </a:ext>
            </a:extLst>
          </p:cNvPr>
          <p:cNvSpPr>
            <a:spLocks noGrp="1"/>
          </p:cNvSpPr>
          <p:nvPr/>
        </p:nvSpPr>
        <p:spPr>
          <a:xfrm>
            <a:off x="1533525" y="3028950"/>
            <a:ext cx="9620250" cy="9525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3B43A-A18A-4610-A717-C29909F41FF9}"/>
              </a:ext>
            </a:extLst>
          </p:cNvPr>
          <p:cNvSpPr>
            <a:spLocks noGrp="1"/>
          </p:cNvSpPr>
          <p:nvPr/>
        </p:nvSpPr>
        <p:spPr>
          <a:xfrm>
            <a:off x="647700" y="3190875"/>
            <a:ext cx="7429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00" b="1">
                <a:solidFill>
                  <a:srgbClr val="087E82"/>
                </a:solidFill>
              </a:defRPr>
            </a:defPPr>
            <a:lvl1pPr>
              <a:defRPr sz="2100" b="1">
                <a:solidFill>
                  <a:srgbClr val="087E82"/>
                </a:solidFill>
              </a:defRPr>
            </a:lvl1pPr>
            <a:lvl2pPr>
              <a:defRPr sz="2100" b="1">
                <a:solidFill>
                  <a:srgbClr val="087E82"/>
                </a:solidFill>
              </a:defRPr>
            </a:lvl2pPr>
            <a:lvl3pPr>
              <a:defRPr sz="2100" b="1">
                <a:solidFill>
                  <a:srgbClr val="087E82"/>
                </a:solidFill>
              </a:defRPr>
            </a:lvl3pPr>
            <a:lvl4pPr>
              <a:defRPr sz="2100" b="1">
                <a:solidFill>
                  <a:srgbClr val="087E82"/>
                </a:solidFill>
              </a:defRPr>
            </a:lvl4pPr>
            <a:lvl5pPr>
              <a:defRPr sz="2100" b="1">
                <a:solidFill>
                  <a:srgbClr val="087E82"/>
                </a:solidFill>
              </a:defRPr>
            </a:lvl5pPr>
            <a:lvl6pPr>
              <a:defRPr sz="2100" b="1">
                <a:solidFill>
                  <a:srgbClr val="087E82"/>
                </a:solidFill>
              </a:defRPr>
            </a:lvl6pPr>
            <a:lvl7pPr>
              <a:defRPr sz="2100" b="1">
                <a:solidFill>
                  <a:srgbClr val="087E82"/>
                </a:solidFill>
              </a:defRPr>
            </a:lvl7pPr>
            <a:lvl8pPr>
              <a:defRPr sz="2100" b="1">
                <a:solidFill>
                  <a:srgbClr val="087E82"/>
                </a:solidFill>
              </a:defRPr>
            </a:lvl8pPr>
            <a:lvl9pPr>
              <a:defRPr sz="2100" b="1">
                <a:solidFill>
                  <a:srgbClr val="087E82"/>
                </a:solidFill>
              </a:defRPr>
            </a:lvl9pPr>
          </a:lstStyle>
          <a:p>
            <a:pPr>
              <a:defRPr sz="2100" b="1">
                <a:solidFill>
                  <a:srgbClr val="087E82"/>
                </a:solidFill>
              </a:defRPr>
            </a:pPr>
            <a:r>
              <a:rPr sz="2100" b="1">
                <a:solidFill>
                  <a:srgbClr val="087E82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E217F3-18BD-4BF9-AE3B-FBA9129BF299}"/>
              </a:ext>
            </a:extLst>
          </p:cNvPr>
          <p:cNvSpPr>
            <a:spLocks noGrp="1"/>
          </p:cNvSpPr>
          <p:nvPr/>
        </p:nvSpPr>
        <p:spPr>
          <a:xfrm>
            <a:off x="1533525" y="3190875"/>
            <a:ext cx="3714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More independence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E065D2-ED06-49CE-BE03-2C4F0298B782}"/>
              </a:ext>
            </a:extLst>
          </p:cNvPr>
          <p:cNvSpPr>
            <a:spLocks noGrp="1"/>
          </p:cNvSpPr>
          <p:nvPr/>
        </p:nvSpPr>
        <p:spPr>
          <a:xfrm>
            <a:off x="5257800" y="3190875"/>
            <a:ext cx="58197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0">
                <a:solidFill>
                  <a:srgbClr val="1D303B"/>
                </a:solidFill>
              </a:defRPr>
            </a:defPPr>
            <a:lvl1pPr>
              <a:defRPr sz="1725" b="0">
                <a:solidFill>
                  <a:srgbClr val="1D303B"/>
                </a:solidFill>
              </a:defRPr>
            </a:lvl1pPr>
            <a:lvl2pPr>
              <a:defRPr sz="1725" b="0">
                <a:solidFill>
                  <a:srgbClr val="1D303B"/>
                </a:solidFill>
              </a:defRPr>
            </a:lvl2pPr>
            <a:lvl3pPr>
              <a:defRPr sz="1725" b="0">
                <a:solidFill>
                  <a:srgbClr val="1D303B"/>
                </a:solidFill>
              </a:defRPr>
            </a:lvl3pPr>
            <a:lvl4pPr>
              <a:defRPr sz="1725" b="0">
                <a:solidFill>
                  <a:srgbClr val="1D303B"/>
                </a:solidFill>
              </a:defRPr>
            </a:lvl4pPr>
            <a:lvl5pPr>
              <a:defRPr sz="1725" b="0">
                <a:solidFill>
                  <a:srgbClr val="1D303B"/>
                </a:solidFill>
              </a:defRPr>
            </a:lvl5pPr>
            <a:lvl6pPr>
              <a:defRPr sz="1725" b="0">
                <a:solidFill>
                  <a:srgbClr val="1D303B"/>
                </a:solidFill>
              </a:defRPr>
            </a:lvl6pPr>
            <a:lvl7pPr>
              <a:defRPr sz="1725" b="0">
                <a:solidFill>
                  <a:srgbClr val="1D303B"/>
                </a:solidFill>
              </a:defRPr>
            </a:lvl7pPr>
            <a:lvl8pPr>
              <a:defRPr sz="1725" b="0">
                <a:solidFill>
                  <a:srgbClr val="1D303B"/>
                </a:solidFill>
              </a:defRPr>
            </a:lvl8pPr>
            <a:lvl9pPr>
              <a:defRPr sz="1725" b="0">
                <a:solidFill>
                  <a:srgbClr val="1D303B"/>
                </a:solidFill>
              </a:defRPr>
            </a:lvl9pPr>
          </a:lstStyle>
          <a:p>
            <a:pPr>
              <a:defRPr sz="1725" b="0">
                <a:solidFill>
                  <a:srgbClr val="1D303B"/>
                </a:solidFill>
              </a:defRPr>
            </a:pPr>
            <a:r>
              <a:rPr sz="1725" b="0">
                <a:solidFill>
                  <a:srgbClr val="1D303B"/>
                </a:solidFill>
              </a:rPr>
              <a:t>Voice-based destinations and guidance reduce the need to ask for directions.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88BF7E-1684-4538-9FBF-5EB9AACF3ED2}"/>
              </a:ext>
            </a:extLst>
          </p:cNvPr>
          <p:cNvSpPr>
            <a:spLocks noGrp="1"/>
          </p:cNvSpPr>
          <p:nvPr/>
        </p:nvSpPr>
        <p:spPr>
          <a:xfrm>
            <a:off x="1533525" y="3990975"/>
            <a:ext cx="9620250" cy="9525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F259D9-622F-430C-8311-F6353470D2CC}"/>
              </a:ext>
            </a:extLst>
          </p:cNvPr>
          <p:cNvSpPr>
            <a:spLocks noGrp="1"/>
          </p:cNvSpPr>
          <p:nvPr/>
        </p:nvSpPr>
        <p:spPr>
          <a:xfrm>
            <a:off x="647700" y="4152900"/>
            <a:ext cx="7429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00" b="1">
                <a:solidFill>
                  <a:srgbClr val="087E82"/>
                </a:solidFill>
              </a:defRPr>
            </a:defPPr>
            <a:lvl1pPr>
              <a:defRPr sz="2100" b="1">
                <a:solidFill>
                  <a:srgbClr val="087E82"/>
                </a:solidFill>
              </a:defRPr>
            </a:lvl1pPr>
            <a:lvl2pPr>
              <a:defRPr sz="2100" b="1">
                <a:solidFill>
                  <a:srgbClr val="087E82"/>
                </a:solidFill>
              </a:defRPr>
            </a:lvl2pPr>
            <a:lvl3pPr>
              <a:defRPr sz="2100" b="1">
                <a:solidFill>
                  <a:srgbClr val="087E82"/>
                </a:solidFill>
              </a:defRPr>
            </a:lvl3pPr>
            <a:lvl4pPr>
              <a:defRPr sz="2100" b="1">
                <a:solidFill>
                  <a:srgbClr val="087E82"/>
                </a:solidFill>
              </a:defRPr>
            </a:lvl4pPr>
            <a:lvl5pPr>
              <a:defRPr sz="2100" b="1">
                <a:solidFill>
                  <a:srgbClr val="087E82"/>
                </a:solidFill>
              </a:defRPr>
            </a:lvl5pPr>
            <a:lvl6pPr>
              <a:defRPr sz="2100" b="1">
                <a:solidFill>
                  <a:srgbClr val="087E82"/>
                </a:solidFill>
              </a:defRPr>
            </a:lvl6pPr>
            <a:lvl7pPr>
              <a:defRPr sz="2100" b="1">
                <a:solidFill>
                  <a:srgbClr val="087E82"/>
                </a:solidFill>
              </a:defRPr>
            </a:lvl7pPr>
            <a:lvl8pPr>
              <a:defRPr sz="2100" b="1">
                <a:solidFill>
                  <a:srgbClr val="087E82"/>
                </a:solidFill>
              </a:defRPr>
            </a:lvl8pPr>
            <a:lvl9pPr>
              <a:defRPr sz="2100" b="1">
                <a:solidFill>
                  <a:srgbClr val="087E82"/>
                </a:solidFill>
              </a:defRPr>
            </a:lvl9pPr>
          </a:lstStyle>
          <a:p>
            <a:pPr>
              <a:defRPr sz="2100" b="1">
                <a:solidFill>
                  <a:srgbClr val="087E82"/>
                </a:solidFill>
              </a:defRPr>
            </a:pPr>
            <a:r>
              <a:rPr sz="2100" b="1">
                <a:solidFill>
                  <a:srgbClr val="087E82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21AE87-4E5D-4BA2-B142-F98DCA4D608E}"/>
              </a:ext>
            </a:extLst>
          </p:cNvPr>
          <p:cNvSpPr>
            <a:spLocks noGrp="1"/>
          </p:cNvSpPr>
          <p:nvPr/>
        </p:nvSpPr>
        <p:spPr>
          <a:xfrm>
            <a:off x="1533525" y="4152900"/>
            <a:ext cx="3714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Personalized routes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A2F74-359C-4D8E-B957-F8BFA12D63D8}"/>
              </a:ext>
            </a:extLst>
          </p:cNvPr>
          <p:cNvSpPr>
            <a:spLocks noGrp="1"/>
          </p:cNvSpPr>
          <p:nvPr/>
        </p:nvSpPr>
        <p:spPr>
          <a:xfrm>
            <a:off x="5257800" y="4152900"/>
            <a:ext cx="58197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0">
                <a:solidFill>
                  <a:srgbClr val="1D303B"/>
                </a:solidFill>
              </a:defRPr>
            </a:defPPr>
            <a:lvl1pPr>
              <a:defRPr sz="1725" b="0">
                <a:solidFill>
                  <a:srgbClr val="1D303B"/>
                </a:solidFill>
              </a:defRPr>
            </a:lvl1pPr>
            <a:lvl2pPr>
              <a:defRPr sz="1725" b="0">
                <a:solidFill>
                  <a:srgbClr val="1D303B"/>
                </a:solidFill>
              </a:defRPr>
            </a:lvl2pPr>
            <a:lvl3pPr>
              <a:defRPr sz="1725" b="0">
                <a:solidFill>
                  <a:srgbClr val="1D303B"/>
                </a:solidFill>
              </a:defRPr>
            </a:lvl3pPr>
            <a:lvl4pPr>
              <a:defRPr sz="1725" b="0">
                <a:solidFill>
                  <a:srgbClr val="1D303B"/>
                </a:solidFill>
              </a:defRPr>
            </a:lvl4pPr>
            <a:lvl5pPr>
              <a:defRPr sz="1725" b="0">
                <a:solidFill>
                  <a:srgbClr val="1D303B"/>
                </a:solidFill>
              </a:defRPr>
            </a:lvl5pPr>
            <a:lvl6pPr>
              <a:defRPr sz="1725" b="0">
                <a:solidFill>
                  <a:srgbClr val="1D303B"/>
                </a:solidFill>
              </a:defRPr>
            </a:lvl6pPr>
            <a:lvl7pPr>
              <a:defRPr sz="1725" b="0">
                <a:solidFill>
                  <a:srgbClr val="1D303B"/>
                </a:solidFill>
              </a:defRPr>
            </a:lvl7pPr>
            <a:lvl8pPr>
              <a:defRPr sz="1725" b="0">
                <a:solidFill>
                  <a:srgbClr val="1D303B"/>
                </a:solidFill>
              </a:defRPr>
            </a:lvl8pPr>
            <a:lvl9pPr>
              <a:defRPr sz="1725" b="0">
                <a:solidFill>
                  <a:srgbClr val="1D303B"/>
                </a:solidFill>
              </a:defRPr>
            </a:lvl9pPr>
          </a:lstStyle>
          <a:p>
            <a:pPr>
              <a:defRPr sz="1725" b="0">
                <a:solidFill>
                  <a:srgbClr val="1D303B"/>
                </a:solidFill>
              </a:defRPr>
            </a:pPr>
            <a:r>
              <a:rPr sz="1725" b="0">
                <a:solidFill>
                  <a:srgbClr val="1D303B"/>
                </a:solidFill>
              </a:rPr>
              <a:t>Users can choose from available routes based on their preferences.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8D9E79-8713-42A3-8FBB-82556AF0F733}"/>
              </a:ext>
            </a:extLst>
          </p:cNvPr>
          <p:cNvSpPr>
            <a:spLocks noGrp="1"/>
          </p:cNvSpPr>
          <p:nvPr/>
        </p:nvSpPr>
        <p:spPr>
          <a:xfrm>
            <a:off x="1533525" y="4953000"/>
            <a:ext cx="9620250" cy="9525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541A2C-DEC5-47DC-A614-E4DC232DDA10}"/>
              </a:ext>
            </a:extLst>
          </p:cNvPr>
          <p:cNvSpPr>
            <a:spLocks noGrp="1"/>
          </p:cNvSpPr>
          <p:nvPr/>
        </p:nvSpPr>
        <p:spPr>
          <a:xfrm>
            <a:off x="647700" y="5114925"/>
            <a:ext cx="7429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00" b="1">
                <a:solidFill>
                  <a:srgbClr val="087E82"/>
                </a:solidFill>
              </a:defRPr>
            </a:defPPr>
            <a:lvl1pPr>
              <a:defRPr sz="2100" b="1">
                <a:solidFill>
                  <a:srgbClr val="087E82"/>
                </a:solidFill>
              </a:defRPr>
            </a:lvl1pPr>
            <a:lvl2pPr>
              <a:defRPr sz="2100" b="1">
                <a:solidFill>
                  <a:srgbClr val="087E82"/>
                </a:solidFill>
              </a:defRPr>
            </a:lvl2pPr>
            <a:lvl3pPr>
              <a:defRPr sz="2100" b="1">
                <a:solidFill>
                  <a:srgbClr val="087E82"/>
                </a:solidFill>
              </a:defRPr>
            </a:lvl3pPr>
            <a:lvl4pPr>
              <a:defRPr sz="2100" b="1">
                <a:solidFill>
                  <a:srgbClr val="087E82"/>
                </a:solidFill>
              </a:defRPr>
            </a:lvl4pPr>
            <a:lvl5pPr>
              <a:defRPr sz="2100" b="1">
                <a:solidFill>
                  <a:srgbClr val="087E82"/>
                </a:solidFill>
              </a:defRPr>
            </a:lvl5pPr>
            <a:lvl6pPr>
              <a:defRPr sz="2100" b="1">
                <a:solidFill>
                  <a:srgbClr val="087E82"/>
                </a:solidFill>
              </a:defRPr>
            </a:lvl6pPr>
            <a:lvl7pPr>
              <a:defRPr sz="2100" b="1">
                <a:solidFill>
                  <a:srgbClr val="087E82"/>
                </a:solidFill>
              </a:defRPr>
            </a:lvl7pPr>
            <a:lvl8pPr>
              <a:defRPr sz="2100" b="1">
                <a:solidFill>
                  <a:srgbClr val="087E82"/>
                </a:solidFill>
              </a:defRPr>
            </a:lvl8pPr>
            <a:lvl9pPr>
              <a:defRPr sz="2100" b="1">
                <a:solidFill>
                  <a:srgbClr val="087E82"/>
                </a:solidFill>
              </a:defRPr>
            </a:lvl9pPr>
          </a:lstStyle>
          <a:p>
            <a:pPr>
              <a:defRPr sz="2100" b="1">
                <a:solidFill>
                  <a:srgbClr val="087E82"/>
                </a:solidFill>
              </a:defRPr>
            </a:pPr>
            <a:r>
              <a:rPr sz="2100" b="1">
                <a:solidFill>
                  <a:srgbClr val="087E82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0609B8-E369-4617-B2EC-DC462C0E1E2F}"/>
              </a:ext>
            </a:extLst>
          </p:cNvPr>
          <p:cNvSpPr>
            <a:spLocks noGrp="1"/>
          </p:cNvSpPr>
          <p:nvPr/>
        </p:nvSpPr>
        <p:spPr>
          <a:xfrm>
            <a:off x="1533525" y="5114925"/>
            <a:ext cx="37147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Help when needed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BE1F5F-7AAF-42A0-AD5C-B274B8B7B4D8}"/>
              </a:ext>
            </a:extLst>
          </p:cNvPr>
          <p:cNvSpPr>
            <a:spLocks noGrp="1"/>
          </p:cNvSpPr>
          <p:nvPr/>
        </p:nvSpPr>
        <p:spPr>
          <a:xfrm>
            <a:off x="5257800" y="5114925"/>
            <a:ext cx="58197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 b="0">
                <a:solidFill>
                  <a:srgbClr val="1D303B"/>
                </a:solidFill>
              </a:defRPr>
            </a:defPPr>
            <a:lvl1pPr>
              <a:defRPr sz="1725" b="0">
                <a:solidFill>
                  <a:srgbClr val="1D303B"/>
                </a:solidFill>
              </a:defRPr>
            </a:lvl1pPr>
            <a:lvl2pPr>
              <a:defRPr sz="1725" b="0">
                <a:solidFill>
                  <a:srgbClr val="1D303B"/>
                </a:solidFill>
              </a:defRPr>
            </a:lvl2pPr>
            <a:lvl3pPr>
              <a:defRPr sz="1725" b="0">
                <a:solidFill>
                  <a:srgbClr val="1D303B"/>
                </a:solidFill>
              </a:defRPr>
            </a:lvl3pPr>
            <a:lvl4pPr>
              <a:defRPr sz="1725" b="0">
                <a:solidFill>
                  <a:srgbClr val="1D303B"/>
                </a:solidFill>
              </a:defRPr>
            </a:lvl4pPr>
            <a:lvl5pPr>
              <a:defRPr sz="1725" b="0">
                <a:solidFill>
                  <a:srgbClr val="1D303B"/>
                </a:solidFill>
              </a:defRPr>
            </a:lvl5pPr>
            <a:lvl6pPr>
              <a:defRPr sz="1725" b="0">
                <a:solidFill>
                  <a:srgbClr val="1D303B"/>
                </a:solidFill>
              </a:defRPr>
            </a:lvl6pPr>
            <a:lvl7pPr>
              <a:defRPr sz="1725" b="0">
                <a:solidFill>
                  <a:srgbClr val="1D303B"/>
                </a:solidFill>
              </a:defRPr>
            </a:lvl7pPr>
            <a:lvl8pPr>
              <a:defRPr sz="1725" b="0">
                <a:solidFill>
                  <a:srgbClr val="1D303B"/>
                </a:solidFill>
              </a:defRPr>
            </a:lvl8pPr>
            <a:lvl9pPr>
              <a:defRPr sz="1725" b="0">
                <a:solidFill>
                  <a:srgbClr val="1D303B"/>
                </a:solidFill>
              </a:defRPr>
            </a:lvl9pPr>
          </a:lstStyle>
          <a:p>
            <a:pPr>
              <a:defRPr sz="1725" b="0">
                <a:solidFill>
                  <a:srgbClr val="1D303B"/>
                </a:solidFill>
              </a:defRPr>
            </a:pPr>
            <a:r>
              <a:rPr sz="1725" b="0">
                <a:solidFill>
                  <a:srgbClr val="1D303B"/>
                </a:solidFill>
              </a:rPr>
              <a:t>Emergency assistance can notify a designated caregiver.</a:t>
            </a:r>
          </a:p>
        </p:txBody>
      </p:sp>
    </p:spTree>
    <p:extLst>
      <p:ext uri="{BB962C8B-B14F-4D97-AF65-F5344CB8AC3E}">
        <p14:creationId xmlns:p14="http://schemas.microsoft.com/office/powerpoint/2010/main" val="31199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CC7E259-DDDA-440D-A1C3-BA299B0F3BC8}"/>
              </a:ext>
            </a:extLst>
          </p:cNvPr>
          <p:cNvSpPr>
            <a:spLocks noGrp="1"/>
          </p:cNvSpPr>
          <p:nvPr/>
        </p:nvSpPr>
        <p:spPr>
          <a:xfrm>
            <a:off x="628650" y="276225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 b="1">
                <a:solidFill>
                  <a:srgbClr val="087E82"/>
                </a:solidFill>
              </a:defRPr>
            </a:defPPr>
            <a:lvl1pPr>
              <a:defRPr sz="1125" b="1">
                <a:solidFill>
                  <a:srgbClr val="087E82"/>
                </a:solidFill>
              </a:defRPr>
            </a:lvl1pPr>
            <a:lvl2pPr>
              <a:defRPr sz="1125" b="1">
                <a:solidFill>
                  <a:srgbClr val="087E82"/>
                </a:solidFill>
              </a:defRPr>
            </a:lvl2pPr>
            <a:lvl3pPr>
              <a:defRPr sz="1125" b="1">
                <a:solidFill>
                  <a:srgbClr val="087E82"/>
                </a:solidFill>
              </a:defRPr>
            </a:lvl3pPr>
            <a:lvl4pPr>
              <a:defRPr sz="1125" b="1">
                <a:solidFill>
                  <a:srgbClr val="087E82"/>
                </a:solidFill>
              </a:defRPr>
            </a:lvl4pPr>
            <a:lvl5pPr>
              <a:defRPr sz="1125" b="1">
                <a:solidFill>
                  <a:srgbClr val="087E82"/>
                </a:solidFill>
              </a:defRPr>
            </a:lvl5pPr>
            <a:lvl6pPr>
              <a:defRPr sz="1125" b="1">
                <a:solidFill>
                  <a:srgbClr val="087E82"/>
                </a:solidFill>
              </a:defRPr>
            </a:lvl6pPr>
            <a:lvl7pPr>
              <a:defRPr sz="1125" b="1">
                <a:solidFill>
                  <a:srgbClr val="087E82"/>
                </a:solidFill>
              </a:defRPr>
            </a:lvl7pPr>
            <a:lvl8pPr>
              <a:defRPr sz="1125" b="1">
                <a:solidFill>
                  <a:srgbClr val="087E82"/>
                </a:solidFill>
              </a:defRPr>
            </a:lvl8pPr>
            <a:lvl9pPr>
              <a:defRPr sz="1125" b="1">
                <a:solidFill>
                  <a:srgbClr val="087E82"/>
                </a:solidFill>
              </a:defRPr>
            </a:lvl9pPr>
          </a:lstStyle>
          <a:p>
            <a:pPr>
              <a:defRPr sz="1125" b="1">
                <a:solidFill>
                  <a:srgbClr val="087E82"/>
                </a:solidFill>
              </a:defRPr>
            </a:pPr>
            <a:r>
              <a:rPr sz="1125" b="1">
                <a:solidFill>
                  <a:srgbClr val="087E82"/>
                </a:solidFill>
              </a:rPr>
              <a:t>THEIA  /  PHASE 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C4FB51-3308-40CB-BC45-15C1F0ED4549}"/>
              </a:ext>
            </a:extLst>
          </p:cNvPr>
          <p:cNvSpPr>
            <a:spLocks noGrp="1"/>
          </p:cNvSpPr>
          <p:nvPr/>
        </p:nvSpPr>
        <p:spPr>
          <a:xfrm>
            <a:off x="628650" y="695325"/>
            <a:ext cx="1085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850" b="1">
                <a:solidFill>
                  <a:srgbClr val="152C44"/>
                </a:solidFill>
              </a:defRPr>
            </a:defPPr>
            <a:lvl1pPr>
              <a:defRPr sz="2850" b="1">
                <a:solidFill>
                  <a:srgbClr val="152C44"/>
                </a:solidFill>
              </a:defRPr>
            </a:lvl1pPr>
            <a:lvl2pPr>
              <a:defRPr sz="2850" b="1">
                <a:solidFill>
                  <a:srgbClr val="152C44"/>
                </a:solidFill>
              </a:defRPr>
            </a:lvl2pPr>
            <a:lvl3pPr>
              <a:defRPr sz="2850" b="1">
                <a:solidFill>
                  <a:srgbClr val="152C44"/>
                </a:solidFill>
              </a:defRPr>
            </a:lvl3pPr>
            <a:lvl4pPr>
              <a:defRPr sz="2850" b="1">
                <a:solidFill>
                  <a:srgbClr val="152C44"/>
                </a:solidFill>
              </a:defRPr>
            </a:lvl4pPr>
            <a:lvl5pPr>
              <a:defRPr sz="2850" b="1">
                <a:solidFill>
                  <a:srgbClr val="152C44"/>
                </a:solidFill>
              </a:defRPr>
            </a:lvl5pPr>
            <a:lvl6pPr>
              <a:defRPr sz="2850" b="1">
                <a:solidFill>
                  <a:srgbClr val="152C44"/>
                </a:solidFill>
              </a:defRPr>
            </a:lvl6pPr>
            <a:lvl7pPr>
              <a:defRPr sz="2850" b="1">
                <a:solidFill>
                  <a:srgbClr val="152C44"/>
                </a:solidFill>
              </a:defRPr>
            </a:lvl7pPr>
            <a:lvl8pPr>
              <a:defRPr sz="2850" b="1">
                <a:solidFill>
                  <a:srgbClr val="152C44"/>
                </a:solidFill>
              </a:defRPr>
            </a:lvl8pPr>
            <a:lvl9pPr>
              <a:defRPr sz="2850" b="1">
                <a:solidFill>
                  <a:srgbClr val="152C44"/>
                </a:solidFill>
              </a:defRPr>
            </a:lvl9pPr>
          </a:lstStyle>
          <a:p>
            <a:pPr>
              <a:defRPr sz="2850" b="1">
                <a:solidFill>
                  <a:srgbClr val="152C44"/>
                </a:solidFill>
              </a:defRPr>
            </a:pPr>
            <a:r>
              <a:rPr sz="2850" b="1">
                <a:solidFill>
                  <a:srgbClr val="152C44"/>
                </a:solidFill>
              </a:rPr>
              <a:t>System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71F564-88CE-4F41-B294-59787CABBE3F}"/>
              </a:ext>
            </a:extLst>
          </p:cNvPr>
          <p:cNvSpPr>
            <a:spLocks noGrp="1"/>
          </p:cNvSpPr>
          <p:nvPr/>
        </p:nvSpPr>
        <p:spPr>
          <a:xfrm>
            <a:off x="628650" y="1400175"/>
            <a:ext cx="10906125" cy="19050"/>
          </a:xfrm>
          <a:prstGeom prst="rect">
            <a:avLst/>
          </a:prstGeom>
          <a:solidFill>
            <a:srgbClr val="E5EDF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179C1C-648A-4335-8B0E-E9EE25AC2125}"/>
              </a:ext>
            </a:extLst>
          </p:cNvPr>
          <p:cNvSpPr>
            <a:spLocks noGrp="1"/>
          </p:cNvSpPr>
          <p:nvPr/>
        </p:nvSpPr>
        <p:spPr>
          <a:xfrm>
            <a:off x="638175" y="1533525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350" b="0">
                <a:solidFill>
                  <a:srgbClr val="536672"/>
                </a:solidFill>
              </a:defRPr>
            </a:defPPr>
            <a:lvl1pPr>
              <a:defRPr sz="1350" b="0">
                <a:solidFill>
                  <a:srgbClr val="536672"/>
                </a:solidFill>
              </a:defRPr>
            </a:lvl1pPr>
            <a:lvl2pPr>
              <a:defRPr sz="1350" b="0">
                <a:solidFill>
                  <a:srgbClr val="536672"/>
                </a:solidFill>
              </a:defRPr>
            </a:lvl2pPr>
            <a:lvl3pPr>
              <a:defRPr sz="1350" b="0">
                <a:solidFill>
                  <a:srgbClr val="536672"/>
                </a:solidFill>
              </a:defRPr>
            </a:lvl3pPr>
            <a:lvl4pPr>
              <a:defRPr sz="1350" b="0">
                <a:solidFill>
                  <a:srgbClr val="536672"/>
                </a:solidFill>
              </a:defRPr>
            </a:lvl4pPr>
            <a:lvl5pPr>
              <a:defRPr sz="1350" b="0">
                <a:solidFill>
                  <a:srgbClr val="536672"/>
                </a:solidFill>
              </a:defRPr>
            </a:lvl5pPr>
            <a:lvl6pPr>
              <a:defRPr sz="1350" b="0">
                <a:solidFill>
                  <a:srgbClr val="536672"/>
                </a:solidFill>
              </a:defRPr>
            </a:lvl6pPr>
            <a:lvl7pPr>
              <a:defRPr sz="1350" b="0">
                <a:solidFill>
                  <a:srgbClr val="536672"/>
                </a:solidFill>
              </a:defRPr>
            </a:lvl7pPr>
            <a:lvl8pPr>
              <a:defRPr sz="1350" b="0">
                <a:solidFill>
                  <a:srgbClr val="536672"/>
                </a:solidFill>
              </a:defRPr>
            </a:lvl8pPr>
            <a:lvl9pPr>
              <a:defRPr sz="1350" b="0">
                <a:solidFill>
                  <a:srgbClr val="536672"/>
                </a:solidFill>
              </a:defRPr>
            </a:lvl9pPr>
          </a:lstStyle>
          <a:p>
            <a:pPr>
              <a:defRPr sz="1350" b="0">
                <a:solidFill>
                  <a:srgbClr val="536672"/>
                </a:solidFill>
              </a:defRPr>
            </a:pPr>
            <a:r>
              <a:rPr sz="1350" b="0">
                <a:solidFill>
                  <a:srgbClr val="536672"/>
                </a:solidFill>
              </a:rPr>
              <a:t>Proposed functional flow based on the THEIA preliminary definition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4884BE-49CE-4168-A6DB-D6213F404E2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200" b="0">
                <a:solidFill>
                  <a:srgbClr val="536672"/>
                </a:solidFill>
              </a:defRPr>
            </a:defPPr>
            <a:lvl1pPr>
              <a:defRPr sz="1200" b="0">
                <a:solidFill>
                  <a:srgbClr val="536672"/>
                </a:solidFill>
              </a:defRPr>
            </a:lvl1pPr>
            <a:lvl2pPr>
              <a:defRPr sz="1200" b="0">
                <a:solidFill>
                  <a:srgbClr val="536672"/>
                </a:solidFill>
              </a:defRPr>
            </a:lvl2pPr>
            <a:lvl3pPr>
              <a:defRPr sz="1200" b="0">
                <a:solidFill>
                  <a:srgbClr val="536672"/>
                </a:solidFill>
              </a:defRPr>
            </a:lvl3pPr>
            <a:lvl4pPr>
              <a:defRPr sz="1200" b="0">
                <a:solidFill>
                  <a:srgbClr val="536672"/>
                </a:solidFill>
              </a:defRPr>
            </a:lvl4pPr>
            <a:lvl5pPr>
              <a:defRPr sz="1200" b="0">
                <a:solidFill>
                  <a:srgbClr val="536672"/>
                </a:solidFill>
              </a:defRPr>
            </a:lvl5pPr>
            <a:lvl6pPr>
              <a:defRPr sz="1200" b="0">
                <a:solidFill>
                  <a:srgbClr val="536672"/>
                </a:solidFill>
              </a:defRPr>
            </a:lvl6pPr>
            <a:lvl7pPr>
              <a:defRPr sz="1200" b="0">
                <a:solidFill>
                  <a:srgbClr val="536672"/>
                </a:solidFill>
              </a:defRPr>
            </a:lvl7pPr>
            <a:lvl8pPr>
              <a:defRPr sz="1200" b="0">
                <a:solidFill>
                  <a:srgbClr val="536672"/>
                </a:solidFill>
              </a:defRPr>
            </a:lvl8pPr>
            <a:lvl9pPr>
              <a:defRPr sz="1200" b="0">
                <a:solidFill>
                  <a:srgbClr val="536672"/>
                </a:solidFill>
              </a:defRPr>
            </a:lvl9pPr>
          </a:lstStyle>
          <a:p>
            <a:pPr>
              <a:defRPr sz="1200" b="0">
                <a:solidFill>
                  <a:srgbClr val="536672"/>
                </a:solidFill>
              </a:defRPr>
            </a:pPr>
            <a:r>
              <a:rPr sz="1200" b="0">
                <a:solidFill>
                  <a:srgbClr val="536672"/>
                </a:solidFill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0BC427-A604-479A-92BC-5F0E5335818B}"/>
              </a:ext>
            </a:extLst>
          </p:cNvPr>
          <p:cNvSpPr>
            <a:spLocks noGrp="1"/>
          </p:cNvSpPr>
          <p:nvPr/>
        </p:nvSpPr>
        <p:spPr>
          <a:xfrm>
            <a:off x="657225" y="2505075"/>
            <a:ext cx="2647950" cy="2238375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 w="9525">
            <a:solidFill>
              <a:srgbClr val="C7DCD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73A75D-35EF-492D-8901-BE478CE04BFC}"/>
              </a:ext>
            </a:extLst>
          </p:cNvPr>
          <p:cNvSpPr>
            <a:spLocks noGrp="1"/>
          </p:cNvSpPr>
          <p:nvPr/>
        </p:nvSpPr>
        <p:spPr>
          <a:xfrm>
            <a:off x="847725" y="2838450"/>
            <a:ext cx="22669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User request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FD8AC7-C8C1-48FB-A877-78BB86DC3162}"/>
              </a:ext>
            </a:extLst>
          </p:cNvPr>
          <p:cNvSpPr>
            <a:spLocks noGrp="1"/>
          </p:cNvSpPr>
          <p:nvPr/>
        </p:nvSpPr>
        <p:spPr>
          <a:xfrm>
            <a:off x="847725" y="3581400"/>
            <a:ext cx="2266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Speak a destination or choose a route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C3D4AF-C39E-4EA2-9D18-547A677372D0}"/>
              </a:ext>
            </a:extLst>
          </p:cNvPr>
          <p:cNvSpPr>
            <a:spLocks noGrp="1"/>
          </p:cNvSpPr>
          <p:nvPr/>
        </p:nvSpPr>
        <p:spPr>
          <a:xfrm>
            <a:off x="3267075" y="3286125"/>
            <a:ext cx="4095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087E82"/>
                </a:solidFill>
              </a:defRPr>
            </a:defPPr>
            <a:lvl1pPr>
              <a:defRPr sz="2700" b="1">
                <a:solidFill>
                  <a:srgbClr val="087E82"/>
                </a:solidFill>
              </a:defRPr>
            </a:lvl1pPr>
            <a:lvl2pPr>
              <a:defRPr sz="2700" b="1">
                <a:solidFill>
                  <a:srgbClr val="087E82"/>
                </a:solidFill>
              </a:defRPr>
            </a:lvl2pPr>
            <a:lvl3pPr>
              <a:defRPr sz="2700" b="1">
                <a:solidFill>
                  <a:srgbClr val="087E82"/>
                </a:solidFill>
              </a:defRPr>
            </a:lvl3pPr>
            <a:lvl4pPr>
              <a:defRPr sz="2700" b="1">
                <a:solidFill>
                  <a:srgbClr val="087E82"/>
                </a:solidFill>
              </a:defRPr>
            </a:lvl4pPr>
            <a:lvl5pPr>
              <a:defRPr sz="2700" b="1">
                <a:solidFill>
                  <a:srgbClr val="087E82"/>
                </a:solidFill>
              </a:defRPr>
            </a:lvl5pPr>
            <a:lvl6pPr>
              <a:defRPr sz="2700" b="1">
                <a:solidFill>
                  <a:srgbClr val="087E82"/>
                </a:solidFill>
              </a:defRPr>
            </a:lvl6pPr>
            <a:lvl7pPr>
              <a:defRPr sz="2700" b="1">
                <a:solidFill>
                  <a:srgbClr val="087E82"/>
                </a:solidFill>
              </a:defRPr>
            </a:lvl7pPr>
            <a:lvl8pPr>
              <a:defRPr sz="2700" b="1">
                <a:solidFill>
                  <a:srgbClr val="087E82"/>
                </a:solidFill>
              </a:defRPr>
            </a:lvl8pPr>
            <a:lvl9pPr>
              <a:defRPr sz="2700" b="1">
                <a:solidFill>
                  <a:srgbClr val="087E82"/>
                </a:solidFill>
              </a:defRPr>
            </a:lvl9pPr>
          </a:lstStyle>
          <a:p>
            <a:pPr>
              <a:defRPr sz="2700" b="1">
                <a:solidFill>
                  <a:srgbClr val="087E82"/>
                </a:solidFill>
              </a:defRPr>
            </a:pPr>
            <a:r>
              <a:rPr sz="2700" b="1">
                <a:solidFill>
                  <a:srgbClr val="087E82"/>
                </a:solidFill>
              </a:rPr>
              <a:t>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9BFAD6-7D0A-4C09-8D09-DD07E309C52A}"/>
              </a:ext>
            </a:extLst>
          </p:cNvPr>
          <p:cNvSpPr>
            <a:spLocks noGrp="1"/>
          </p:cNvSpPr>
          <p:nvPr/>
        </p:nvSpPr>
        <p:spPr>
          <a:xfrm>
            <a:off x="3552825" y="2505075"/>
            <a:ext cx="2647950" cy="2238375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 w="9525">
            <a:solidFill>
              <a:srgbClr val="C7DCD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76F17-FFE4-4803-852F-3BFE48080E87}"/>
              </a:ext>
            </a:extLst>
          </p:cNvPr>
          <p:cNvSpPr>
            <a:spLocks noGrp="1"/>
          </p:cNvSpPr>
          <p:nvPr/>
        </p:nvSpPr>
        <p:spPr>
          <a:xfrm>
            <a:off x="3743325" y="2838450"/>
            <a:ext cx="22669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Route planning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CFE7A-37B5-4BDB-8D40-5604BEC79FD9}"/>
              </a:ext>
            </a:extLst>
          </p:cNvPr>
          <p:cNvSpPr>
            <a:spLocks noGrp="1"/>
          </p:cNvSpPr>
          <p:nvPr/>
        </p:nvSpPr>
        <p:spPr>
          <a:xfrm>
            <a:off x="3743325" y="3581400"/>
            <a:ext cx="2266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Use indoor location and map information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15E7C-87D1-46D1-B00B-5E6E7F934D5B}"/>
              </a:ext>
            </a:extLst>
          </p:cNvPr>
          <p:cNvSpPr>
            <a:spLocks noGrp="1"/>
          </p:cNvSpPr>
          <p:nvPr/>
        </p:nvSpPr>
        <p:spPr>
          <a:xfrm>
            <a:off x="6162675" y="3286125"/>
            <a:ext cx="4095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087E82"/>
                </a:solidFill>
              </a:defRPr>
            </a:defPPr>
            <a:lvl1pPr>
              <a:defRPr sz="2700" b="1">
                <a:solidFill>
                  <a:srgbClr val="087E82"/>
                </a:solidFill>
              </a:defRPr>
            </a:lvl1pPr>
            <a:lvl2pPr>
              <a:defRPr sz="2700" b="1">
                <a:solidFill>
                  <a:srgbClr val="087E82"/>
                </a:solidFill>
              </a:defRPr>
            </a:lvl2pPr>
            <a:lvl3pPr>
              <a:defRPr sz="2700" b="1">
                <a:solidFill>
                  <a:srgbClr val="087E82"/>
                </a:solidFill>
              </a:defRPr>
            </a:lvl3pPr>
            <a:lvl4pPr>
              <a:defRPr sz="2700" b="1">
                <a:solidFill>
                  <a:srgbClr val="087E82"/>
                </a:solidFill>
              </a:defRPr>
            </a:lvl4pPr>
            <a:lvl5pPr>
              <a:defRPr sz="2700" b="1">
                <a:solidFill>
                  <a:srgbClr val="087E82"/>
                </a:solidFill>
              </a:defRPr>
            </a:lvl5pPr>
            <a:lvl6pPr>
              <a:defRPr sz="2700" b="1">
                <a:solidFill>
                  <a:srgbClr val="087E82"/>
                </a:solidFill>
              </a:defRPr>
            </a:lvl6pPr>
            <a:lvl7pPr>
              <a:defRPr sz="2700" b="1">
                <a:solidFill>
                  <a:srgbClr val="087E82"/>
                </a:solidFill>
              </a:defRPr>
            </a:lvl7pPr>
            <a:lvl8pPr>
              <a:defRPr sz="2700" b="1">
                <a:solidFill>
                  <a:srgbClr val="087E82"/>
                </a:solidFill>
              </a:defRPr>
            </a:lvl8pPr>
            <a:lvl9pPr>
              <a:defRPr sz="2700" b="1">
                <a:solidFill>
                  <a:srgbClr val="087E82"/>
                </a:solidFill>
              </a:defRPr>
            </a:lvl9pPr>
          </a:lstStyle>
          <a:p>
            <a:pPr>
              <a:defRPr sz="2700" b="1">
                <a:solidFill>
                  <a:srgbClr val="087E82"/>
                </a:solidFill>
              </a:defRPr>
            </a:pPr>
            <a:r>
              <a:rPr sz="2700" b="1">
                <a:solidFill>
                  <a:srgbClr val="087E82"/>
                </a:solidFill>
              </a:rP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D94386-49D0-4A27-B968-278462E03E60}"/>
              </a:ext>
            </a:extLst>
          </p:cNvPr>
          <p:cNvSpPr>
            <a:spLocks noGrp="1"/>
          </p:cNvSpPr>
          <p:nvPr/>
        </p:nvSpPr>
        <p:spPr>
          <a:xfrm>
            <a:off x="6448425" y="2505075"/>
            <a:ext cx="2647950" cy="2238375"/>
          </a:xfrm>
          <a:prstGeom prst="roundRect">
            <a:avLst>
              <a:gd name="adj" fmla="val 3404"/>
            </a:avLst>
          </a:prstGeom>
          <a:solidFill>
            <a:srgbClr val="E6F4F2"/>
          </a:solidFill>
          <a:ln w="9525">
            <a:solidFill>
              <a:srgbClr val="C7DCD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D6A787-717E-4A83-8512-C330C51EB1DE}"/>
              </a:ext>
            </a:extLst>
          </p:cNvPr>
          <p:cNvSpPr>
            <a:spLocks noGrp="1"/>
          </p:cNvSpPr>
          <p:nvPr/>
        </p:nvSpPr>
        <p:spPr>
          <a:xfrm>
            <a:off x="6638925" y="2838450"/>
            <a:ext cx="22669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Guidance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B78E8D-89CB-4EF8-B71F-4B02E26646F4}"/>
              </a:ext>
            </a:extLst>
          </p:cNvPr>
          <p:cNvSpPr>
            <a:spLocks noGrp="1"/>
          </p:cNvSpPr>
          <p:nvPr/>
        </p:nvSpPr>
        <p:spPr>
          <a:xfrm>
            <a:off x="6638925" y="3581400"/>
            <a:ext cx="2266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Provide spoken directions and turn cues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BAF162-C0AD-47A8-9AF0-1DC58A0519FE}"/>
              </a:ext>
            </a:extLst>
          </p:cNvPr>
          <p:cNvSpPr>
            <a:spLocks noGrp="1"/>
          </p:cNvSpPr>
          <p:nvPr/>
        </p:nvSpPr>
        <p:spPr>
          <a:xfrm>
            <a:off x="9058275" y="3286125"/>
            <a:ext cx="4095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 b="1">
                <a:solidFill>
                  <a:srgbClr val="087E82"/>
                </a:solidFill>
              </a:defRPr>
            </a:defPPr>
            <a:lvl1pPr>
              <a:defRPr sz="2700" b="1">
                <a:solidFill>
                  <a:srgbClr val="087E82"/>
                </a:solidFill>
              </a:defRPr>
            </a:lvl1pPr>
            <a:lvl2pPr>
              <a:defRPr sz="2700" b="1">
                <a:solidFill>
                  <a:srgbClr val="087E82"/>
                </a:solidFill>
              </a:defRPr>
            </a:lvl2pPr>
            <a:lvl3pPr>
              <a:defRPr sz="2700" b="1">
                <a:solidFill>
                  <a:srgbClr val="087E82"/>
                </a:solidFill>
              </a:defRPr>
            </a:lvl3pPr>
            <a:lvl4pPr>
              <a:defRPr sz="2700" b="1">
                <a:solidFill>
                  <a:srgbClr val="087E82"/>
                </a:solidFill>
              </a:defRPr>
            </a:lvl4pPr>
            <a:lvl5pPr>
              <a:defRPr sz="2700" b="1">
                <a:solidFill>
                  <a:srgbClr val="087E82"/>
                </a:solidFill>
              </a:defRPr>
            </a:lvl5pPr>
            <a:lvl6pPr>
              <a:defRPr sz="2700" b="1">
                <a:solidFill>
                  <a:srgbClr val="087E82"/>
                </a:solidFill>
              </a:defRPr>
            </a:lvl6pPr>
            <a:lvl7pPr>
              <a:defRPr sz="2700" b="1">
                <a:solidFill>
                  <a:srgbClr val="087E82"/>
                </a:solidFill>
              </a:defRPr>
            </a:lvl7pPr>
            <a:lvl8pPr>
              <a:defRPr sz="2700" b="1">
                <a:solidFill>
                  <a:srgbClr val="087E82"/>
                </a:solidFill>
              </a:defRPr>
            </a:lvl8pPr>
            <a:lvl9pPr>
              <a:defRPr sz="2700" b="1">
                <a:solidFill>
                  <a:srgbClr val="087E82"/>
                </a:solidFill>
              </a:defRPr>
            </a:lvl9pPr>
          </a:lstStyle>
          <a:p>
            <a:pPr>
              <a:defRPr sz="2700" b="1">
                <a:solidFill>
                  <a:srgbClr val="087E82"/>
                </a:solidFill>
              </a:defRPr>
            </a:pPr>
            <a:r>
              <a:rPr sz="2700" b="1">
                <a:solidFill>
                  <a:srgbClr val="087E82"/>
                </a:solidFill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E170D6-6A75-4EA8-9910-F1AF44DD4086}"/>
              </a:ext>
            </a:extLst>
          </p:cNvPr>
          <p:cNvSpPr>
            <a:spLocks noGrp="1"/>
          </p:cNvSpPr>
          <p:nvPr/>
        </p:nvSpPr>
        <p:spPr>
          <a:xfrm>
            <a:off x="9344025" y="2505075"/>
            <a:ext cx="2647950" cy="2238375"/>
          </a:xfrm>
          <a:prstGeom prst="roundRect">
            <a:avLst>
              <a:gd name="adj" fmla="val 3404"/>
            </a:avLst>
          </a:prstGeom>
          <a:solidFill>
            <a:srgbClr val="F2F6F7"/>
          </a:solidFill>
          <a:ln w="9525">
            <a:solidFill>
              <a:srgbClr val="C7DCD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E5A4C-19D2-4FB2-A586-F99072E22F63}"/>
              </a:ext>
            </a:extLst>
          </p:cNvPr>
          <p:cNvSpPr>
            <a:spLocks noGrp="1"/>
          </p:cNvSpPr>
          <p:nvPr/>
        </p:nvSpPr>
        <p:spPr>
          <a:xfrm>
            <a:off x="9534525" y="2838450"/>
            <a:ext cx="22669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 b="1">
                <a:solidFill>
                  <a:srgbClr val="152C44"/>
                </a:solidFill>
              </a:defRPr>
            </a:defPPr>
            <a:lvl1pPr>
              <a:defRPr sz="1950" b="1">
                <a:solidFill>
                  <a:srgbClr val="152C44"/>
                </a:solidFill>
              </a:defRPr>
            </a:lvl1pPr>
            <a:lvl2pPr>
              <a:defRPr sz="1950" b="1">
                <a:solidFill>
                  <a:srgbClr val="152C44"/>
                </a:solidFill>
              </a:defRPr>
            </a:lvl2pPr>
            <a:lvl3pPr>
              <a:defRPr sz="1950" b="1">
                <a:solidFill>
                  <a:srgbClr val="152C44"/>
                </a:solidFill>
              </a:defRPr>
            </a:lvl3pPr>
            <a:lvl4pPr>
              <a:defRPr sz="1950" b="1">
                <a:solidFill>
                  <a:srgbClr val="152C44"/>
                </a:solidFill>
              </a:defRPr>
            </a:lvl4pPr>
            <a:lvl5pPr>
              <a:defRPr sz="1950" b="1">
                <a:solidFill>
                  <a:srgbClr val="152C44"/>
                </a:solidFill>
              </a:defRPr>
            </a:lvl5pPr>
            <a:lvl6pPr>
              <a:defRPr sz="1950" b="1">
                <a:solidFill>
                  <a:srgbClr val="152C44"/>
                </a:solidFill>
              </a:defRPr>
            </a:lvl6pPr>
            <a:lvl7pPr>
              <a:defRPr sz="1950" b="1">
                <a:solidFill>
                  <a:srgbClr val="152C44"/>
                </a:solidFill>
              </a:defRPr>
            </a:lvl7pPr>
            <a:lvl8pPr>
              <a:defRPr sz="1950" b="1">
                <a:solidFill>
                  <a:srgbClr val="152C44"/>
                </a:solidFill>
              </a:defRPr>
            </a:lvl8pPr>
            <a:lvl9pPr>
              <a:defRPr sz="1950" b="1">
                <a:solidFill>
                  <a:srgbClr val="152C44"/>
                </a:solidFill>
              </a:defRPr>
            </a:lvl9pPr>
          </a:lstStyle>
          <a:p>
            <a:pPr>
              <a:defRPr sz="1950" b="1">
                <a:solidFill>
                  <a:srgbClr val="152C44"/>
                </a:solidFill>
              </a:defRPr>
            </a:pPr>
            <a:r>
              <a:rPr sz="1950" b="1">
                <a:solidFill>
                  <a:srgbClr val="152C44"/>
                </a:solidFill>
              </a:rPr>
              <a:t>Safety response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41DE3A-FB15-4D48-98CB-A286E3C22A2B}"/>
              </a:ext>
            </a:extLst>
          </p:cNvPr>
          <p:cNvSpPr>
            <a:spLocks noGrp="1"/>
          </p:cNvSpPr>
          <p:nvPr/>
        </p:nvSpPr>
        <p:spPr>
          <a:xfrm>
            <a:off x="9534525" y="3581400"/>
            <a:ext cx="2266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75" b="0">
                <a:solidFill>
                  <a:srgbClr val="1D303B"/>
                </a:solidFill>
              </a:defRPr>
            </a:defPPr>
            <a:lvl1pPr>
              <a:defRPr sz="1575" b="0">
                <a:solidFill>
                  <a:srgbClr val="1D303B"/>
                </a:solidFill>
              </a:defRPr>
            </a:lvl1pPr>
            <a:lvl2pPr>
              <a:defRPr sz="1575" b="0">
                <a:solidFill>
                  <a:srgbClr val="1D303B"/>
                </a:solidFill>
              </a:defRPr>
            </a:lvl2pPr>
            <a:lvl3pPr>
              <a:defRPr sz="1575" b="0">
                <a:solidFill>
                  <a:srgbClr val="1D303B"/>
                </a:solidFill>
              </a:defRPr>
            </a:lvl3pPr>
            <a:lvl4pPr>
              <a:defRPr sz="1575" b="0">
                <a:solidFill>
                  <a:srgbClr val="1D303B"/>
                </a:solidFill>
              </a:defRPr>
            </a:lvl4pPr>
            <a:lvl5pPr>
              <a:defRPr sz="1575" b="0">
                <a:solidFill>
                  <a:srgbClr val="1D303B"/>
                </a:solidFill>
              </a:defRPr>
            </a:lvl5pPr>
            <a:lvl6pPr>
              <a:defRPr sz="1575" b="0">
                <a:solidFill>
                  <a:srgbClr val="1D303B"/>
                </a:solidFill>
              </a:defRPr>
            </a:lvl6pPr>
            <a:lvl7pPr>
              <a:defRPr sz="1575" b="0">
                <a:solidFill>
                  <a:srgbClr val="1D303B"/>
                </a:solidFill>
              </a:defRPr>
            </a:lvl7pPr>
            <a:lvl8pPr>
              <a:defRPr sz="1575" b="0">
                <a:solidFill>
                  <a:srgbClr val="1D303B"/>
                </a:solidFill>
              </a:defRPr>
            </a:lvl8pPr>
            <a:lvl9pPr>
              <a:defRPr sz="1575" b="0">
                <a:solidFill>
                  <a:srgbClr val="1D303B"/>
                </a:solidFill>
              </a:defRPr>
            </a:lvl9pPr>
          </a:lstStyle>
          <a:p>
            <a:pPr>
              <a:defRPr sz="1575" b="0">
                <a:solidFill>
                  <a:srgbClr val="1D303B"/>
                </a:solidFill>
              </a:defRPr>
            </a:pPr>
            <a:r>
              <a:rPr sz="1575" b="0">
                <a:solidFill>
                  <a:srgbClr val="1D303B"/>
                </a:solidFill>
              </a:rPr>
              <a:t>Warn about obstacles or offer assistance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A5711-6AFC-4AAF-8144-0E66DD35462D}"/>
              </a:ext>
            </a:extLst>
          </p:cNvPr>
          <p:cNvSpPr>
            <a:spLocks noGrp="1"/>
          </p:cNvSpPr>
          <p:nvPr/>
        </p:nvSpPr>
        <p:spPr>
          <a:xfrm>
            <a:off x="657225" y="5438775"/>
            <a:ext cx="106013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 b="0">
                <a:solidFill>
                  <a:srgbClr val="536672"/>
                </a:solidFill>
              </a:defRPr>
            </a:defPPr>
            <a:lvl1pPr>
              <a:defRPr sz="1500" b="0">
                <a:solidFill>
                  <a:srgbClr val="536672"/>
                </a:solidFill>
              </a:defRPr>
            </a:lvl1pPr>
            <a:lvl2pPr>
              <a:defRPr sz="1500" b="0">
                <a:solidFill>
                  <a:srgbClr val="536672"/>
                </a:solidFill>
              </a:defRPr>
            </a:lvl2pPr>
            <a:lvl3pPr>
              <a:defRPr sz="1500" b="0">
                <a:solidFill>
                  <a:srgbClr val="536672"/>
                </a:solidFill>
              </a:defRPr>
            </a:lvl3pPr>
            <a:lvl4pPr>
              <a:defRPr sz="1500" b="0">
                <a:solidFill>
                  <a:srgbClr val="536672"/>
                </a:solidFill>
              </a:defRPr>
            </a:lvl4pPr>
            <a:lvl5pPr>
              <a:defRPr sz="1500" b="0">
                <a:solidFill>
                  <a:srgbClr val="536672"/>
                </a:solidFill>
              </a:defRPr>
            </a:lvl5pPr>
            <a:lvl6pPr>
              <a:defRPr sz="1500" b="0">
                <a:solidFill>
                  <a:srgbClr val="536672"/>
                </a:solidFill>
              </a:defRPr>
            </a:lvl6pPr>
            <a:lvl7pPr>
              <a:defRPr sz="1500" b="0">
                <a:solidFill>
                  <a:srgbClr val="536672"/>
                </a:solidFill>
              </a:defRPr>
            </a:lvl7pPr>
            <a:lvl8pPr>
              <a:defRPr sz="1500" b="0">
                <a:solidFill>
                  <a:srgbClr val="536672"/>
                </a:solidFill>
              </a:defRPr>
            </a:lvl8pPr>
            <a:lvl9pPr>
              <a:defRPr sz="1500" b="0">
                <a:solidFill>
                  <a:srgbClr val="536672"/>
                </a:solidFill>
              </a:defRPr>
            </a:lvl9pPr>
          </a:lstStyle>
          <a:p>
            <a:pPr>
              <a:defRPr sz="1500" b="0">
                <a:solidFill>
                  <a:srgbClr val="536672"/>
                </a:solidFill>
              </a:defRPr>
            </a:pPr>
            <a:r>
              <a:rPr sz="1500" b="0">
                <a:solidFill>
                  <a:srgbClr val="536672"/>
                </a:solidFill>
              </a:rPr>
              <a:t>The system must handle uncertain location data safely. Detailed sensor choices and technical architecture remain to be defined.</a:t>
            </a:r>
          </a:p>
        </p:txBody>
      </p:sp>
    </p:spTree>
    <p:extLst>
      <p:ext uri="{BB962C8B-B14F-4D97-AF65-F5344CB8AC3E}">
        <p14:creationId xmlns:p14="http://schemas.microsoft.com/office/powerpoint/2010/main" val="1025078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a33bb67-eaf8-4d9a-b283-07172a00124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0D50A8731B7F42BEE0589279670850" ma:contentTypeVersion="6" ma:contentTypeDescription="Create a new document." ma:contentTypeScope="" ma:versionID="c8ef5624957afeadd104ce7f1bc79073">
  <xsd:schema xmlns:xsd="http://www.w3.org/2001/XMLSchema" xmlns:xs="http://www.w3.org/2001/XMLSchema" xmlns:p="http://schemas.microsoft.com/office/2006/metadata/properties" xmlns:ns3="1a33bb67-eaf8-4d9a-b283-07172a00124e" targetNamespace="http://schemas.microsoft.com/office/2006/metadata/properties" ma:root="true" ma:fieldsID="d1996b53cb1064272fb3643b8913bd8d" ns3:_="">
    <xsd:import namespace="1a33bb67-eaf8-4d9a-b283-07172a00124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3bb67-eaf8-4d9a-b283-07172a00124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DD2C10-0D14-4A5C-BB8A-9F5FCADB26C9}">
  <ds:schemaRefs>
    <ds:schemaRef ds:uri="1a33bb67-eaf8-4d9a-b283-07172a00124e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1CC17C3-E588-4A26-A5A9-0F919761E5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2475DA-0912-4ED7-9EAE-E8BE5CB48F9F}">
  <ds:schemaRefs>
    <ds:schemaRef ds:uri="1a33bb67-eaf8-4d9a-b283-07172a0012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2</cp:revision>
  <dcterms:created xsi:type="dcterms:W3CDTF">2026-10-18T18:07:17Z</dcterms:created>
  <dcterms:modified xsi:type="dcterms:W3CDTF">2026-10-19T01:39:33Z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0x010100590D50A8731B7F42BEE0589279670850</vt:lpwstr>
  </property>
</Properties>
</file>